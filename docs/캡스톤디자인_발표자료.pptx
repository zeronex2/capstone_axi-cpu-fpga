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1" r:id="rId4"/>
    <p:sldId id="264" r:id="rId5"/>
    <p:sldId id="258" r:id="rId6"/>
    <p:sldId id="266" r:id="rId7"/>
    <p:sldId id="269" r:id="rId8"/>
    <p:sldId id="270" r:id="rId9"/>
    <p:sldId id="271" r:id="rId10"/>
    <p:sldId id="272" r:id="rId11"/>
    <p:sldId id="273" r:id="rId12"/>
    <p:sldId id="260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93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21511-ED39-4166-9B0E-DFE4BE459DE3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3D172-95D1-4BCD-B35A-138677EB36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87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58454" y="2024789"/>
            <a:ext cx="7371941" cy="5830536"/>
          </a:xfrm>
          <a:custGeom>
            <a:avLst/>
            <a:gdLst/>
            <a:ahLst/>
            <a:cxnLst/>
            <a:rect l="l" t="t" r="r" b="b"/>
            <a:pathLst>
              <a:path w="7371941" h="5830536">
                <a:moveTo>
                  <a:pt x="0" y="0"/>
                </a:moveTo>
                <a:lnTo>
                  <a:pt x="7371941" y="0"/>
                </a:lnTo>
                <a:lnTo>
                  <a:pt x="7371941" y="5830536"/>
                </a:lnTo>
                <a:lnTo>
                  <a:pt x="0" y="5830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 flipV="1">
            <a:off x="1201954" y="8284587"/>
            <a:ext cx="15879803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181006" y="3373117"/>
            <a:ext cx="9867993" cy="2990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895"/>
              </a:lnSpc>
            </a:pPr>
            <a:r>
              <a:rPr lang="en-US" altLang="ko-KR" sz="9150" spc="-183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</a:t>
            </a:r>
            <a:r>
              <a:rPr lang="ko-KR" altLang="en-US" sz="9150" spc="-183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기반 </a:t>
            </a:r>
            <a:r>
              <a:rPr lang="en-US" altLang="ko-KR" sz="9150" spc="-183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CPU </a:t>
            </a:r>
            <a:r>
              <a:rPr lang="ko-KR" altLang="en-US" sz="9150" spc="-183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 및 </a:t>
            </a:r>
            <a:r>
              <a:rPr lang="en-US" altLang="ko-KR" sz="9150" spc="-183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FPGA </a:t>
            </a:r>
            <a:r>
              <a:rPr lang="ko-KR" altLang="en-US" sz="9150" spc="-183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구현</a:t>
            </a:r>
            <a:endParaRPr lang="en-US" sz="9150" spc="-183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83450" y="8701074"/>
            <a:ext cx="4967002" cy="5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0"/>
              </a:lnSpc>
            </a:pPr>
            <a:r>
              <a:rPr lang="ko-KR" altLang="en-US" sz="3157" spc="-63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캡스톤디자인</a:t>
            </a:r>
            <a:r>
              <a:rPr lang="ko-KR" alt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발표</a:t>
            </a:r>
            <a:endParaRPr lang="en-US" sz="3157" spc="-63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 dirty="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70276" y="8701074"/>
            <a:ext cx="7744149" cy="54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20"/>
              </a:lnSpc>
            </a:pPr>
            <a:r>
              <a:rPr lang="ko-KR" altLang="en-US" sz="3157" spc="-63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곽도영</a:t>
            </a:r>
            <a:r>
              <a:rPr 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/ </a:t>
            </a:r>
            <a:r>
              <a:rPr lang="ko-KR" altLang="en-US" sz="3157" spc="-63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김기연</a:t>
            </a:r>
            <a:r>
              <a:rPr lang="ko-KR" alt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/ </a:t>
            </a:r>
            <a:r>
              <a:rPr lang="ko-KR" alt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남승현 </a:t>
            </a:r>
            <a:r>
              <a:rPr 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/ </a:t>
            </a:r>
            <a:r>
              <a:rPr lang="ko-KR" altLang="en-US" sz="3157" spc="-63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남상우</a:t>
            </a:r>
            <a:endParaRPr lang="en-US" sz="3157" spc="-63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 dirty="0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AutoShape 9"/>
          <p:cNvSpPr/>
          <p:nvPr/>
        </p:nvSpPr>
        <p:spPr>
          <a:xfrm>
            <a:off x="4325853" y="2830255"/>
            <a:ext cx="4034678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350383" y="2660429"/>
            <a:ext cx="1028297" cy="945006"/>
            <a:chOff x="0" y="0"/>
            <a:chExt cx="190465" cy="1750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7760" y="0"/>
                  </a:moveTo>
                  <a:lnTo>
                    <a:pt x="122705" y="0"/>
                  </a:lnTo>
                  <a:cubicBezTo>
                    <a:pt x="160128" y="0"/>
                    <a:pt x="190465" y="30337"/>
                    <a:pt x="190465" y="67760"/>
                  </a:cubicBezTo>
                  <a:lnTo>
                    <a:pt x="190465" y="107278"/>
                  </a:lnTo>
                  <a:cubicBezTo>
                    <a:pt x="190465" y="125249"/>
                    <a:pt x="183326" y="142484"/>
                    <a:pt x="170618" y="155191"/>
                  </a:cubicBezTo>
                  <a:cubicBezTo>
                    <a:pt x="157911" y="167899"/>
                    <a:pt x="140676" y="175038"/>
                    <a:pt x="122705" y="175038"/>
                  </a:cubicBezTo>
                  <a:lnTo>
                    <a:pt x="67760" y="175038"/>
                  </a:lnTo>
                  <a:cubicBezTo>
                    <a:pt x="30337" y="175038"/>
                    <a:pt x="0" y="144700"/>
                    <a:pt x="0" y="107278"/>
                  </a:cubicBezTo>
                  <a:lnTo>
                    <a:pt x="0" y="67760"/>
                  </a:lnTo>
                  <a:cubicBezTo>
                    <a:pt x="0" y="30337"/>
                    <a:pt x="30337" y="0"/>
                    <a:pt x="67760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325853" y="5233187"/>
            <a:ext cx="4034678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3350383" y="5063361"/>
            <a:ext cx="1028297" cy="945006"/>
            <a:chOff x="0" y="0"/>
            <a:chExt cx="190465" cy="1750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7760" y="0"/>
                  </a:moveTo>
                  <a:lnTo>
                    <a:pt x="122705" y="0"/>
                  </a:lnTo>
                  <a:cubicBezTo>
                    <a:pt x="160128" y="0"/>
                    <a:pt x="190465" y="30337"/>
                    <a:pt x="190465" y="67760"/>
                  </a:cubicBezTo>
                  <a:lnTo>
                    <a:pt x="190465" y="107278"/>
                  </a:lnTo>
                  <a:cubicBezTo>
                    <a:pt x="190465" y="125249"/>
                    <a:pt x="183326" y="142484"/>
                    <a:pt x="170618" y="155191"/>
                  </a:cubicBezTo>
                  <a:cubicBezTo>
                    <a:pt x="157911" y="167899"/>
                    <a:pt x="140676" y="175038"/>
                    <a:pt x="122705" y="175038"/>
                  </a:cubicBezTo>
                  <a:lnTo>
                    <a:pt x="67760" y="175038"/>
                  </a:lnTo>
                  <a:cubicBezTo>
                    <a:pt x="30337" y="175038"/>
                    <a:pt x="0" y="144700"/>
                    <a:pt x="0" y="107278"/>
                  </a:cubicBezTo>
                  <a:lnTo>
                    <a:pt x="0" y="67760"/>
                  </a:lnTo>
                  <a:cubicBezTo>
                    <a:pt x="0" y="30337"/>
                    <a:pt x="30337" y="0"/>
                    <a:pt x="67760" y="0"/>
                  </a:cubicBezTo>
                  <a:close/>
                </a:path>
              </a:pathLst>
            </a:custGeom>
            <a:solidFill>
              <a:srgbClr val="FBFCF8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4325853" y="7636119"/>
            <a:ext cx="4034678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3350383" y="7466292"/>
            <a:ext cx="1028297" cy="945006"/>
            <a:chOff x="0" y="0"/>
            <a:chExt cx="190465" cy="1750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7760" y="0"/>
                  </a:moveTo>
                  <a:lnTo>
                    <a:pt x="122705" y="0"/>
                  </a:lnTo>
                  <a:cubicBezTo>
                    <a:pt x="160128" y="0"/>
                    <a:pt x="190465" y="30337"/>
                    <a:pt x="190465" y="67760"/>
                  </a:cubicBezTo>
                  <a:lnTo>
                    <a:pt x="190465" y="107278"/>
                  </a:lnTo>
                  <a:cubicBezTo>
                    <a:pt x="190465" y="125249"/>
                    <a:pt x="183326" y="142484"/>
                    <a:pt x="170618" y="155191"/>
                  </a:cubicBezTo>
                  <a:cubicBezTo>
                    <a:pt x="157911" y="167899"/>
                    <a:pt x="140676" y="175038"/>
                    <a:pt x="122705" y="175038"/>
                  </a:cubicBezTo>
                  <a:lnTo>
                    <a:pt x="67760" y="175038"/>
                  </a:lnTo>
                  <a:cubicBezTo>
                    <a:pt x="30337" y="175038"/>
                    <a:pt x="0" y="144700"/>
                    <a:pt x="0" y="107278"/>
                  </a:cubicBezTo>
                  <a:lnTo>
                    <a:pt x="0" y="67760"/>
                  </a:lnTo>
                  <a:cubicBezTo>
                    <a:pt x="0" y="30337"/>
                    <a:pt x="30337" y="0"/>
                    <a:pt x="67760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0937842" y="2830255"/>
            <a:ext cx="4034678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2" name="Group 22"/>
          <p:cNvGrpSpPr/>
          <p:nvPr/>
        </p:nvGrpSpPr>
        <p:grpSpPr>
          <a:xfrm>
            <a:off x="9962372" y="2660429"/>
            <a:ext cx="1028297" cy="945006"/>
            <a:chOff x="0" y="0"/>
            <a:chExt cx="190465" cy="1750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7760" y="0"/>
                  </a:moveTo>
                  <a:lnTo>
                    <a:pt x="122705" y="0"/>
                  </a:lnTo>
                  <a:cubicBezTo>
                    <a:pt x="160128" y="0"/>
                    <a:pt x="190465" y="30337"/>
                    <a:pt x="190465" y="67760"/>
                  </a:cubicBezTo>
                  <a:lnTo>
                    <a:pt x="190465" y="107278"/>
                  </a:lnTo>
                  <a:cubicBezTo>
                    <a:pt x="190465" y="125249"/>
                    <a:pt x="183326" y="142484"/>
                    <a:pt x="170618" y="155191"/>
                  </a:cubicBezTo>
                  <a:cubicBezTo>
                    <a:pt x="157911" y="167899"/>
                    <a:pt x="140676" y="175038"/>
                    <a:pt x="122705" y="175038"/>
                  </a:cubicBezTo>
                  <a:lnTo>
                    <a:pt x="67760" y="175038"/>
                  </a:lnTo>
                  <a:cubicBezTo>
                    <a:pt x="30337" y="175038"/>
                    <a:pt x="0" y="144700"/>
                    <a:pt x="0" y="107278"/>
                  </a:cubicBezTo>
                  <a:lnTo>
                    <a:pt x="0" y="67760"/>
                  </a:lnTo>
                  <a:cubicBezTo>
                    <a:pt x="0" y="30337"/>
                    <a:pt x="30337" y="0"/>
                    <a:pt x="67760" y="0"/>
                  </a:cubicBezTo>
                  <a:close/>
                </a:path>
              </a:pathLst>
            </a:custGeom>
            <a:solidFill>
              <a:srgbClr val="FBFCF8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0937842" y="5233187"/>
            <a:ext cx="4034678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26"/>
          <p:cNvGrpSpPr/>
          <p:nvPr/>
        </p:nvGrpSpPr>
        <p:grpSpPr>
          <a:xfrm>
            <a:off x="9962372" y="5063361"/>
            <a:ext cx="1028297" cy="945006"/>
            <a:chOff x="0" y="0"/>
            <a:chExt cx="190465" cy="1750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7760" y="0"/>
                  </a:moveTo>
                  <a:lnTo>
                    <a:pt x="122705" y="0"/>
                  </a:lnTo>
                  <a:cubicBezTo>
                    <a:pt x="160128" y="0"/>
                    <a:pt x="190465" y="30337"/>
                    <a:pt x="190465" y="67760"/>
                  </a:cubicBezTo>
                  <a:lnTo>
                    <a:pt x="190465" y="107278"/>
                  </a:lnTo>
                  <a:cubicBezTo>
                    <a:pt x="190465" y="125249"/>
                    <a:pt x="183326" y="142484"/>
                    <a:pt x="170618" y="155191"/>
                  </a:cubicBezTo>
                  <a:cubicBezTo>
                    <a:pt x="157911" y="167899"/>
                    <a:pt x="140676" y="175038"/>
                    <a:pt x="122705" y="175038"/>
                  </a:cubicBezTo>
                  <a:lnTo>
                    <a:pt x="67760" y="175038"/>
                  </a:lnTo>
                  <a:cubicBezTo>
                    <a:pt x="30337" y="175038"/>
                    <a:pt x="0" y="144700"/>
                    <a:pt x="0" y="107278"/>
                  </a:cubicBezTo>
                  <a:lnTo>
                    <a:pt x="0" y="67760"/>
                  </a:lnTo>
                  <a:cubicBezTo>
                    <a:pt x="0" y="30337"/>
                    <a:pt x="30337" y="0"/>
                    <a:pt x="67760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>
            <a:off x="10937842" y="7636119"/>
            <a:ext cx="4034678" cy="0"/>
          </a:xfrm>
          <a:prstGeom prst="line">
            <a:avLst/>
          </a:prstGeom>
          <a:ln w="2857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9962372" y="7466292"/>
            <a:ext cx="1028297" cy="945006"/>
            <a:chOff x="0" y="0"/>
            <a:chExt cx="190465" cy="1750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7760" y="0"/>
                  </a:moveTo>
                  <a:lnTo>
                    <a:pt x="122705" y="0"/>
                  </a:lnTo>
                  <a:cubicBezTo>
                    <a:pt x="160128" y="0"/>
                    <a:pt x="190465" y="30337"/>
                    <a:pt x="190465" y="67760"/>
                  </a:cubicBezTo>
                  <a:lnTo>
                    <a:pt x="190465" y="107278"/>
                  </a:lnTo>
                  <a:cubicBezTo>
                    <a:pt x="190465" y="125249"/>
                    <a:pt x="183326" y="142484"/>
                    <a:pt x="170618" y="155191"/>
                  </a:cubicBezTo>
                  <a:cubicBezTo>
                    <a:pt x="157911" y="167899"/>
                    <a:pt x="140676" y="175038"/>
                    <a:pt x="122705" y="175038"/>
                  </a:cubicBezTo>
                  <a:lnTo>
                    <a:pt x="67760" y="175038"/>
                  </a:lnTo>
                  <a:cubicBezTo>
                    <a:pt x="30337" y="175038"/>
                    <a:pt x="0" y="144700"/>
                    <a:pt x="0" y="107278"/>
                  </a:cubicBezTo>
                  <a:lnTo>
                    <a:pt x="0" y="67760"/>
                  </a:lnTo>
                  <a:cubicBezTo>
                    <a:pt x="0" y="30337"/>
                    <a:pt x="30337" y="0"/>
                    <a:pt x="67760" y="0"/>
                  </a:cubicBezTo>
                  <a:close/>
                </a:path>
              </a:pathLst>
            </a:custGeom>
            <a:solidFill>
              <a:srgbClr val="FBFCF8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630705" y="2867541"/>
            <a:ext cx="467651" cy="4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1" spc="-5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42694" y="2867541"/>
            <a:ext cx="467651" cy="4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1" spc="-53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30705" y="5270473"/>
            <a:ext cx="467651" cy="46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1" spc="-53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42694" y="5270473"/>
            <a:ext cx="467651" cy="4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1" spc="-5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630705" y="7673405"/>
            <a:ext cx="467651" cy="4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1" spc="-5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42694" y="7673405"/>
            <a:ext cx="467651" cy="4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3" b="1" spc="-53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40267" y="3222521"/>
            <a:ext cx="3450189" cy="4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서론 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352256" y="3222521"/>
            <a:ext cx="3540789" cy="43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AXI </a:t>
            </a: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기반 컨트롤러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740267" y="5625453"/>
            <a:ext cx="3450189" cy="4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AXI </a:t>
            </a: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프로토콜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352256" y="5625453"/>
            <a:ext cx="3450189" cy="4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FPGA</a:t>
            </a: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구현 및 검증결과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740267" y="8028385"/>
            <a:ext cx="3450189" cy="4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Custom CPU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52256" y="8028385"/>
            <a:ext cx="3450189" cy="44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결론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740267" y="3919068"/>
            <a:ext cx="354079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프로젝트의 배경</a:t>
            </a:r>
            <a:endParaRPr lang="en-US" sz="23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352256" y="3919068"/>
            <a:ext cx="354079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ko-KR" altLang="en-US" sz="2299" spc="-4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메모리</a:t>
            </a:r>
            <a:r>
              <a:rPr lang="en-US" altLang="ko-KR" sz="2299" spc="-4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en-US" altLang="ko-KR" sz="2299" spc="-45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</a:t>
            </a:r>
            <a:r>
              <a:rPr lang="en-US" altLang="ko-KR" sz="2299" spc="-4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segment</a:t>
            </a:r>
            <a:endParaRPr lang="en-US" sz="2299" spc="-4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740267" y="6322000"/>
            <a:ext cx="354079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Handshake/AXI </a:t>
            </a:r>
            <a:r>
              <a:rPr lang="ko-KR" altLang="en-US" sz="2299" spc="-4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동작</a:t>
            </a:r>
            <a:endParaRPr lang="en-US" sz="2299" spc="-4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1352256" y="8724932"/>
            <a:ext cx="354079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ko-KR" altLang="en-US" sz="2299" spc="-4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향후발전 방향</a:t>
            </a:r>
            <a:endParaRPr lang="en-US" sz="2299" spc="-4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3345237" y="4548054"/>
            <a:ext cx="5015293" cy="0"/>
          </a:xfrm>
          <a:prstGeom prst="line">
            <a:avLst/>
          </a:prstGeom>
          <a:ln w="952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AutoShape 52"/>
          <p:cNvSpPr/>
          <p:nvPr/>
        </p:nvSpPr>
        <p:spPr>
          <a:xfrm flipH="1" flipV="1">
            <a:off x="9155896" y="2830255"/>
            <a:ext cx="0" cy="6525964"/>
          </a:xfrm>
          <a:prstGeom prst="line">
            <a:avLst/>
          </a:prstGeom>
          <a:ln w="1905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AutoShape 53"/>
          <p:cNvSpPr/>
          <p:nvPr/>
        </p:nvSpPr>
        <p:spPr>
          <a:xfrm>
            <a:off x="9957226" y="4548054"/>
            <a:ext cx="5015293" cy="0"/>
          </a:xfrm>
          <a:prstGeom prst="line">
            <a:avLst/>
          </a:prstGeom>
          <a:ln w="952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AutoShape 54"/>
          <p:cNvSpPr/>
          <p:nvPr/>
        </p:nvSpPr>
        <p:spPr>
          <a:xfrm>
            <a:off x="3345237" y="6950985"/>
            <a:ext cx="5015293" cy="0"/>
          </a:xfrm>
          <a:prstGeom prst="line">
            <a:avLst/>
          </a:prstGeom>
          <a:ln w="952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AutoShape 55"/>
          <p:cNvSpPr/>
          <p:nvPr/>
        </p:nvSpPr>
        <p:spPr>
          <a:xfrm>
            <a:off x="9957226" y="6950985"/>
            <a:ext cx="5015293" cy="0"/>
          </a:xfrm>
          <a:prstGeom prst="line">
            <a:avLst/>
          </a:prstGeom>
          <a:ln w="952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AutoShape 56"/>
          <p:cNvSpPr/>
          <p:nvPr/>
        </p:nvSpPr>
        <p:spPr>
          <a:xfrm>
            <a:off x="3345237" y="9353917"/>
            <a:ext cx="5015293" cy="0"/>
          </a:xfrm>
          <a:prstGeom prst="line">
            <a:avLst/>
          </a:prstGeom>
          <a:ln w="952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AutoShape 57"/>
          <p:cNvSpPr/>
          <p:nvPr/>
        </p:nvSpPr>
        <p:spPr>
          <a:xfrm>
            <a:off x="9957226" y="9353917"/>
            <a:ext cx="5015293" cy="0"/>
          </a:xfrm>
          <a:prstGeom prst="line">
            <a:avLst/>
          </a:prstGeom>
          <a:ln w="9525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Box 58"/>
          <p:cNvSpPr txBox="1"/>
          <p:nvPr/>
        </p:nvSpPr>
        <p:spPr>
          <a:xfrm>
            <a:off x="7613479" y="1043000"/>
            <a:ext cx="3096867" cy="1143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4598" y="1462369"/>
            <a:ext cx="15164273" cy="1137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ko-KR" alt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서론</a:t>
            </a:r>
            <a:endParaRPr lang="en-US" sz="6579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D3379090-BC31-F1F0-2C39-F5D7A83FF125}"/>
              </a:ext>
            </a:extLst>
          </p:cNvPr>
          <p:cNvSpPr txBox="1"/>
          <p:nvPr/>
        </p:nvSpPr>
        <p:spPr>
          <a:xfrm>
            <a:off x="9049507" y="5742011"/>
            <a:ext cx="8077200" cy="108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시뮬레이션의 한계</a:t>
            </a:r>
            <a:endParaRPr lang="en-US" altLang="ko-KR" sz="2800" spc="-3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75"/>
              </a:lnSpc>
            </a:pPr>
            <a:endParaRPr lang="en-US" altLang="ko-KR" sz="2800" spc="-3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75"/>
              </a:lnSpc>
            </a:pP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실제 하드웨어에서 타이밍</a:t>
            </a:r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신호지연 등의 문제가 발생</a:t>
            </a:r>
            <a:endParaRPr lang="en-US" altLang="ko-KR" sz="2800" spc="-3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28" name="TextBox 42">
            <a:extLst>
              <a:ext uri="{FF2B5EF4-FFF2-40B4-BE49-F238E27FC236}">
                <a16:creationId xmlns:a16="http://schemas.microsoft.com/office/drawing/2014/main" id="{D46577E4-48F4-8EF0-8FE3-40F391E4BA30}"/>
              </a:ext>
            </a:extLst>
          </p:cNvPr>
          <p:cNvSpPr txBox="1"/>
          <p:nvPr/>
        </p:nvSpPr>
        <p:spPr>
          <a:xfrm>
            <a:off x="2416458" y="6093636"/>
            <a:ext cx="537788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높은 확장성과 </a:t>
            </a:r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IP 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재사용성</a:t>
            </a:r>
            <a:endParaRPr lang="en-US" altLang="ko-KR" sz="2800" dirty="0"/>
          </a:p>
        </p:txBody>
      </p:sp>
      <p:sp>
        <p:nvSpPr>
          <p:cNvPr id="30" name="AutoShape 31">
            <a:extLst>
              <a:ext uri="{FF2B5EF4-FFF2-40B4-BE49-F238E27FC236}">
                <a16:creationId xmlns:a16="http://schemas.microsoft.com/office/drawing/2014/main" id="{ED0FD21C-ED41-7C67-4BE6-CC4DE9BB0BBC}"/>
              </a:ext>
            </a:extLst>
          </p:cNvPr>
          <p:cNvSpPr/>
          <p:nvPr/>
        </p:nvSpPr>
        <p:spPr>
          <a:xfrm flipV="1">
            <a:off x="8686800" y="4883758"/>
            <a:ext cx="0" cy="3281529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AutoShape 8">
            <a:extLst>
              <a:ext uri="{FF2B5EF4-FFF2-40B4-BE49-F238E27FC236}">
                <a16:creationId xmlns:a16="http://schemas.microsoft.com/office/drawing/2014/main" id="{EF5E3522-2836-F242-05A8-718C20897F65}"/>
              </a:ext>
            </a:extLst>
          </p:cNvPr>
          <p:cNvSpPr/>
          <p:nvPr/>
        </p:nvSpPr>
        <p:spPr>
          <a:xfrm flipV="1">
            <a:off x="1246904" y="8953500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2" name="Group 9">
            <a:extLst>
              <a:ext uri="{FF2B5EF4-FFF2-40B4-BE49-F238E27FC236}">
                <a16:creationId xmlns:a16="http://schemas.microsoft.com/office/drawing/2014/main" id="{CB5A304F-B90A-75EF-4626-1803620DBAD2}"/>
              </a:ext>
            </a:extLst>
          </p:cNvPr>
          <p:cNvGrpSpPr/>
          <p:nvPr/>
        </p:nvGrpSpPr>
        <p:grpSpPr>
          <a:xfrm>
            <a:off x="2057399" y="3430976"/>
            <a:ext cx="3048001" cy="740304"/>
            <a:chOff x="0" y="0"/>
            <a:chExt cx="641784" cy="137122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AB7BA40B-C75A-3A58-FE8D-049925F2C596}"/>
                </a:ext>
              </a:extLst>
            </p:cNvPr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3B8847AF-B24C-C944-CC06-1D4D00C7D86F}"/>
                </a:ext>
              </a:extLst>
            </p:cNvPr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40">
            <a:extLst>
              <a:ext uri="{FF2B5EF4-FFF2-40B4-BE49-F238E27FC236}">
                <a16:creationId xmlns:a16="http://schemas.microsoft.com/office/drawing/2014/main" id="{53D72C57-8C8E-6333-BC63-1C4EB34196E9}"/>
              </a:ext>
            </a:extLst>
          </p:cNvPr>
          <p:cNvSpPr txBox="1"/>
          <p:nvPr/>
        </p:nvSpPr>
        <p:spPr>
          <a:xfrm>
            <a:off x="1888837" y="3077073"/>
            <a:ext cx="3386930" cy="982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ko-KR" altLang="en-US" sz="2800" spc="-131" dirty="0">
                <a:solidFill>
                  <a:schemeClr val="bg1"/>
                </a:solidFill>
                <a:latin typeface="TDTD굴림"/>
                <a:ea typeface="TDTD굴림"/>
                <a:cs typeface="TDTD굴림"/>
                <a:sym typeface="TDTD굴림"/>
              </a:rPr>
              <a:t>프로젝트의 배경</a:t>
            </a:r>
            <a:endParaRPr lang="en-US" sz="2800" spc="-131" dirty="0">
              <a:solidFill>
                <a:schemeClr val="bg1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7238D0F1-E462-B180-2BE8-970D99AB4E99}"/>
              </a:ext>
            </a:extLst>
          </p:cNvPr>
          <p:cNvSpPr/>
          <p:nvPr/>
        </p:nvSpPr>
        <p:spPr>
          <a:xfrm flipV="1">
            <a:off x="1291910" y="2857500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93;p3">
            <a:extLst>
              <a:ext uri="{FF2B5EF4-FFF2-40B4-BE49-F238E27FC236}">
                <a16:creationId xmlns:a16="http://schemas.microsoft.com/office/drawing/2014/main" id="{8EA31CA2-E4C0-617F-BF77-9EB176315406}"/>
              </a:ext>
            </a:extLst>
          </p:cNvPr>
          <p:cNvGrpSpPr/>
          <p:nvPr/>
        </p:nvGrpSpPr>
        <p:grpSpPr>
          <a:xfrm>
            <a:off x="1204412" y="4991100"/>
            <a:ext cx="15879803" cy="2441951"/>
            <a:chOff x="0" y="-47625"/>
            <a:chExt cx="4112441" cy="369618"/>
          </a:xfrm>
        </p:grpSpPr>
        <p:sp>
          <p:nvSpPr>
            <p:cNvPr id="22" name="Google Shape;194;p3">
              <a:extLst>
                <a:ext uri="{FF2B5EF4-FFF2-40B4-BE49-F238E27FC236}">
                  <a16:creationId xmlns:a16="http://schemas.microsoft.com/office/drawing/2014/main" id="{FCBBF152-516F-C790-7844-82E4BA7024AE}"/>
                </a:ext>
              </a:extLst>
            </p:cNvPr>
            <p:cNvSpPr/>
            <p:nvPr/>
          </p:nvSpPr>
          <p:spPr>
            <a:xfrm>
              <a:off x="0" y="0"/>
              <a:ext cx="4112440" cy="321993"/>
            </a:xfrm>
            <a:custGeom>
              <a:avLst/>
              <a:gdLst/>
              <a:ahLst/>
              <a:cxnLst/>
              <a:rect l="l" t="t" r="r" b="b"/>
              <a:pathLst>
                <a:path w="4112440" h="321993" extrusionOk="0">
                  <a:moveTo>
                    <a:pt x="5454" y="0"/>
                  </a:moveTo>
                  <a:lnTo>
                    <a:pt x="4106987" y="0"/>
                  </a:lnTo>
                  <a:cubicBezTo>
                    <a:pt x="4109999" y="0"/>
                    <a:pt x="4112440" y="2442"/>
                    <a:pt x="4112440" y="5454"/>
                  </a:cubicBezTo>
                  <a:lnTo>
                    <a:pt x="4112440" y="316539"/>
                  </a:lnTo>
                  <a:cubicBezTo>
                    <a:pt x="4112440" y="319551"/>
                    <a:pt x="4109999" y="321993"/>
                    <a:pt x="4106987" y="321993"/>
                  </a:cubicBezTo>
                  <a:lnTo>
                    <a:pt x="5454" y="321993"/>
                  </a:lnTo>
                  <a:cubicBezTo>
                    <a:pt x="2442" y="321993"/>
                    <a:pt x="0" y="319551"/>
                    <a:pt x="0" y="316539"/>
                  </a:cubicBezTo>
                  <a:lnTo>
                    <a:pt x="0" y="5454"/>
                  </a:lnTo>
                  <a:cubicBezTo>
                    <a:pt x="0" y="2442"/>
                    <a:pt x="2442" y="0"/>
                    <a:pt x="5454" y="0"/>
                  </a:cubicBezTo>
                  <a:close/>
                </a:path>
              </a:pathLst>
            </a:custGeom>
            <a:solidFill>
              <a:srgbClr val="EFEF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5;p3">
              <a:extLst>
                <a:ext uri="{FF2B5EF4-FFF2-40B4-BE49-F238E27FC236}">
                  <a16:creationId xmlns:a16="http://schemas.microsoft.com/office/drawing/2014/main" id="{0B08A7BB-5D42-9B49-3B11-C99DA426945B}"/>
                </a:ext>
              </a:extLst>
            </p:cNvPr>
            <p:cNvSpPr txBox="1"/>
            <p:nvPr/>
          </p:nvSpPr>
          <p:spPr>
            <a:xfrm>
              <a:off x="0" y="-47625"/>
              <a:ext cx="4112441" cy="369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0369" y="1498456"/>
            <a:ext cx="17071831" cy="4056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</a:t>
            </a:r>
            <a:r>
              <a:rPr lang="ko-KR" alt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</a:t>
            </a:r>
            <a:r>
              <a:rPr lang="en-US" altLang="ko-KR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handshake</a:t>
            </a:r>
          </a:p>
          <a:p>
            <a:pPr algn="ctr"/>
            <a:endParaRPr lang="ko-KR" altLang="en-US" sz="6600" dirty="0"/>
          </a:p>
          <a:p>
            <a:pPr algn="ctr"/>
            <a:br>
              <a:rPr lang="ko-KR" altLang="en-US" sz="6600" dirty="0"/>
            </a:br>
            <a:endParaRPr lang="en-US" sz="6579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87887" y="7923541"/>
            <a:ext cx="651162" cy="695416"/>
          </a:xfrm>
          <a:custGeom>
            <a:avLst/>
            <a:gdLst/>
            <a:ahLst/>
            <a:cxnLst/>
            <a:rect l="l" t="t" r="r" b="b"/>
            <a:pathLst>
              <a:path w="651162" h="695416">
                <a:moveTo>
                  <a:pt x="0" y="0"/>
                </a:moveTo>
                <a:lnTo>
                  <a:pt x="651163" y="0"/>
                </a:lnTo>
                <a:lnTo>
                  <a:pt x="651163" y="695416"/>
                </a:lnTo>
                <a:lnTo>
                  <a:pt x="0" y="695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1382181" y="4334533"/>
            <a:ext cx="15368205" cy="366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ko-KR" altLang="en-US" sz="2800" dirty="0"/>
              <a:t> </a:t>
            </a:r>
            <a:r>
              <a:rPr lang="ko-KR" altLang="en-US" sz="2800" spc="-35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송신측과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800" spc="-35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수신측이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서로 데이터 전송이 가능한 상태인지 확인하는 과정</a:t>
            </a:r>
            <a:endParaRPr lang="en-US" sz="2800" spc="-35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59897" y="5700416"/>
            <a:ext cx="15368205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fontAlgn="base"/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VALID : 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주소</a:t>
            </a:r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 또는 제어 정보가 버스 상에 유효하게 준비되었음을 나타내는 신호</a:t>
            </a:r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  <a:endParaRPr lang="en-US" altLang="ko-KR" sz="2800" dirty="0"/>
          </a:p>
          <a:p>
            <a:pPr fontAlgn="base"/>
            <a:endParaRPr lang="en-US" altLang="ko-KR" sz="2800" dirty="0"/>
          </a:p>
          <a:p>
            <a:pPr fontAlgn="base"/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READY: </a:t>
            </a:r>
            <a:r>
              <a:rPr lang="ko-KR" altLang="en-US" sz="2800" spc="-35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송신측의</a:t>
            </a:r>
            <a:r>
              <a:rPr lang="ko-KR" altLang="en-US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데이터를 받아들일 공간이나 처리 준비가 완료되었음을 나타내는 신호이다</a:t>
            </a:r>
            <a:r>
              <a:rPr lang="en-US" altLang="ko-KR" sz="2800" spc="-35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  <a:endParaRPr lang="en-US" altLang="ko-KR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3"/>
          <p:cNvGrpSpPr/>
          <p:nvPr/>
        </p:nvGrpSpPr>
        <p:grpSpPr>
          <a:xfrm>
            <a:off x="520769" y="349324"/>
            <a:ext cx="17252828" cy="9436587"/>
            <a:chOff x="0" y="-38100"/>
            <a:chExt cx="4543955" cy="2485356"/>
          </a:xfrm>
        </p:grpSpPr>
        <p:sp>
          <p:nvSpPr>
            <p:cNvPr id="163" name="Google Shape;163;p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 extrusionOk="0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2448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5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8" name="Google Shape;168;p3"/>
          <p:cNvCxnSpPr/>
          <p:nvPr/>
        </p:nvCxnSpPr>
        <p:spPr>
          <a:xfrm>
            <a:off x="1201954" y="3070413"/>
            <a:ext cx="15879803" cy="0"/>
          </a:xfrm>
          <a:prstGeom prst="straightConnector1">
            <a:avLst/>
          </a:prstGeom>
          <a:noFill/>
          <a:ln w="38100" cap="rnd" cmpd="sng">
            <a:solidFill>
              <a:srgbClr val="24485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9" name="Google Shape;169;p3"/>
          <p:cNvGrpSpPr/>
          <p:nvPr/>
        </p:nvGrpSpPr>
        <p:grpSpPr>
          <a:xfrm>
            <a:off x="1865859" y="3524592"/>
            <a:ext cx="4071967" cy="997425"/>
            <a:chOff x="0" y="-47625"/>
            <a:chExt cx="641784" cy="184747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 extrusionOk="0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 cmpd="sng">
              <a:solidFill>
                <a:srgbClr val="24485E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7067479" y="3538935"/>
            <a:ext cx="4219171" cy="997425"/>
            <a:chOff x="0" y="-47625"/>
            <a:chExt cx="641784" cy="184747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 extrusionOk="0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 cmpd="sng">
              <a:solidFill>
                <a:srgbClr val="24485E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11968666" y="3546916"/>
            <a:ext cx="5633531" cy="997425"/>
            <a:chOff x="0" y="-47625"/>
            <a:chExt cx="641784" cy="184747"/>
          </a:xfrm>
        </p:grpSpPr>
        <p:sp>
          <p:nvSpPr>
            <p:cNvPr id="176" name="Google Shape;176;p3"/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 extrusionOk="0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 cmpd="sng">
              <a:solidFill>
                <a:srgbClr val="24485E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3"/>
          <p:cNvGrpSpPr/>
          <p:nvPr/>
        </p:nvGrpSpPr>
        <p:grpSpPr>
          <a:xfrm>
            <a:off x="992640" y="5893715"/>
            <a:ext cx="16266660" cy="1626528"/>
            <a:chOff x="0" y="-241102"/>
            <a:chExt cx="21688880" cy="2168703"/>
          </a:xfrm>
        </p:grpSpPr>
        <p:grpSp>
          <p:nvGrpSpPr>
            <p:cNvPr id="179" name="Google Shape;179;p3"/>
            <p:cNvGrpSpPr/>
            <p:nvPr/>
          </p:nvGrpSpPr>
          <p:grpSpPr>
            <a:xfrm>
              <a:off x="261477" y="-102170"/>
              <a:ext cx="21211620" cy="1830631"/>
              <a:chOff x="0" y="-47625"/>
              <a:chExt cx="4189950" cy="361606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0"/>
                <a:ext cx="4189950" cy="313981"/>
              </a:xfrm>
              <a:custGeom>
                <a:avLst/>
                <a:gdLst/>
                <a:ahLst/>
                <a:cxnLst/>
                <a:rect l="l" t="t" r="r" b="b"/>
                <a:pathLst>
                  <a:path w="4189950" h="313981" extrusionOk="0">
                    <a:moveTo>
                      <a:pt x="13626" y="0"/>
                    </a:moveTo>
                    <a:lnTo>
                      <a:pt x="4176324" y="0"/>
                    </a:lnTo>
                    <a:cubicBezTo>
                      <a:pt x="4183849" y="0"/>
                      <a:pt x="4189950" y="6101"/>
                      <a:pt x="4189950" y="13626"/>
                    </a:cubicBezTo>
                    <a:lnTo>
                      <a:pt x="4189950" y="300355"/>
                    </a:lnTo>
                    <a:cubicBezTo>
                      <a:pt x="4189950" y="307880"/>
                      <a:pt x="4183849" y="313981"/>
                      <a:pt x="4176324" y="313981"/>
                    </a:cubicBezTo>
                    <a:lnTo>
                      <a:pt x="13626" y="313981"/>
                    </a:lnTo>
                    <a:cubicBezTo>
                      <a:pt x="6101" y="313981"/>
                      <a:pt x="0" y="307880"/>
                      <a:pt x="0" y="300355"/>
                    </a:cubicBezTo>
                    <a:lnTo>
                      <a:pt x="0" y="13626"/>
                    </a:lnTo>
                    <a:cubicBezTo>
                      <a:pt x="0" y="6101"/>
                      <a:pt x="6101" y="0"/>
                      <a:pt x="13626" y="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2448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3"/>
              <p:cNvSpPr txBox="1"/>
              <p:nvPr/>
            </p:nvSpPr>
            <p:spPr>
              <a:xfrm>
                <a:off x="0" y="-47625"/>
                <a:ext cx="4189950" cy="3616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3"/>
            <p:cNvGrpSpPr/>
            <p:nvPr/>
          </p:nvGrpSpPr>
          <p:grpSpPr>
            <a:xfrm rot="10800000">
              <a:off x="10655701" y="1603964"/>
              <a:ext cx="423172" cy="323637"/>
              <a:chOff x="0" y="0"/>
              <a:chExt cx="374454" cy="286378"/>
            </a:xfrm>
          </p:grpSpPr>
          <p:sp>
            <p:nvSpPr>
              <p:cNvPr id="183" name="Google Shape;183;p3"/>
              <p:cNvSpPr/>
              <p:nvPr/>
            </p:nvSpPr>
            <p:spPr>
              <a:xfrm>
                <a:off x="0" y="0"/>
                <a:ext cx="374454" cy="286378"/>
              </a:xfrm>
              <a:custGeom>
                <a:avLst/>
                <a:gdLst/>
                <a:ahLst/>
                <a:cxnLst/>
                <a:rect l="l" t="t" r="r" b="b"/>
                <a:pathLst>
                  <a:path w="374454" h="286378" extrusionOk="0">
                    <a:moveTo>
                      <a:pt x="187227" y="0"/>
                    </a:moveTo>
                    <a:lnTo>
                      <a:pt x="374454" y="286378"/>
                    </a:lnTo>
                    <a:lnTo>
                      <a:pt x="0" y="286378"/>
                    </a:lnTo>
                    <a:lnTo>
                      <a:pt x="187227" y="0"/>
                    </a:lnTo>
                    <a:close/>
                  </a:path>
                </a:pathLst>
              </a:custGeom>
              <a:solidFill>
                <a:srgbClr val="FBFCF8"/>
              </a:solidFill>
              <a:ln w="19050" cap="sq" cmpd="sng">
                <a:solidFill>
                  <a:srgbClr val="24485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4" name="Google Shape;184;p3"/>
              <p:cNvSpPr txBox="1"/>
              <p:nvPr/>
            </p:nvSpPr>
            <p:spPr>
              <a:xfrm>
                <a:off x="58508" y="85336"/>
                <a:ext cx="257437" cy="1805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3"/>
            <p:cNvGrpSpPr/>
            <p:nvPr/>
          </p:nvGrpSpPr>
          <p:grpSpPr>
            <a:xfrm>
              <a:off x="10495280" y="1212560"/>
              <a:ext cx="698320" cy="428673"/>
              <a:chOff x="0" y="-47625"/>
              <a:chExt cx="137940" cy="84676"/>
            </a:xfrm>
          </p:grpSpPr>
          <p:sp>
            <p:nvSpPr>
              <p:cNvPr id="186" name="Google Shape;186;p3"/>
              <p:cNvSpPr/>
              <p:nvPr/>
            </p:nvSpPr>
            <p:spPr>
              <a:xfrm>
                <a:off x="0" y="0"/>
                <a:ext cx="137940" cy="37051"/>
              </a:xfrm>
              <a:custGeom>
                <a:avLst/>
                <a:gdLst/>
                <a:ahLst/>
                <a:cxnLst/>
                <a:rect l="l" t="t" r="r" b="b"/>
                <a:pathLst>
                  <a:path w="137940" h="37051" extrusionOk="0">
                    <a:moveTo>
                      <a:pt x="0" y="0"/>
                    </a:moveTo>
                    <a:lnTo>
                      <a:pt x="137940" y="0"/>
                    </a:lnTo>
                    <a:lnTo>
                      <a:pt x="137940" y="37051"/>
                    </a:lnTo>
                    <a:lnTo>
                      <a:pt x="0" y="37051"/>
                    </a:lnTo>
                    <a:close/>
                  </a:path>
                </a:pathLst>
              </a:custGeom>
              <a:solidFill>
                <a:srgbClr val="FBFCF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7" name="Google Shape;187;p3"/>
              <p:cNvSpPr txBox="1"/>
              <p:nvPr/>
            </p:nvSpPr>
            <p:spPr>
              <a:xfrm>
                <a:off x="0" y="-47625"/>
                <a:ext cx="137940" cy="846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3"/>
            <p:cNvGrpSpPr/>
            <p:nvPr/>
          </p:nvGrpSpPr>
          <p:grpSpPr>
            <a:xfrm>
              <a:off x="0" y="-241102"/>
              <a:ext cx="21688880" cy="1612733"/>
              <a:chOff x="0" y="-47625"/>
              <a:chExt cx="4284223" cy="318564"/>
            </a:xfrm>
          </p:grpSpPr>
          <p:sp>
            <p:nvSpPr>
              <p:cNvPr id="189" name="Google Shape;189;p3"/>
              <p:cNvSpPr/>
              <p:nvPr/>
            </p:nvSpPr>
            <p:spPr>
              <a:xfrm>
                <a:off x="0" y="0"/>
                <a:ext cx="4284223" cy="270939"/>
              </a:xfrm>
              <a:custGeom>
                <a:avLst/>
                <a:gdLst/>
                <a:ahLst/>
                <a:cxnLst/>
                <a:rect l="l" t="t" r="r" b="b"/>
                <a:pathLst>
                  <a:path w="4284223" h="270939" extrusionOk="0">
                    <a:moveTo>
                      <a:pt x="0" y="0"/>
                    </a:moveTo>
                    <a:lnTo>
                      <a:pt x="4284223" y="0"/>
                    </a:lnTo>
                    <a:lnTo>
                      <a:pt x="4284223" y="270939"/>
                    </a:lnTo>
                    <a:lnTo>
                      <a:pt x="0" y="270939"/>
                    </a:lnTo>
                    <a:close/>
                  </a:path>
                </a:pathLst>
              </a:custGeom>
              <a:solidFill>
                <a:srgbClr val="FBFCF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0" name="Google Shape;190;p3"/>
              <p:cNvSpPr txBox="1"/>
              <p:nvPr/>
            </p:nvSpPr>
            <p:spPr>
              <a:xfrm>
                <a:off x="0" y="-47625"/>
                <a:ext cx="4284223" cy="318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91" name="Google Shape;191;p3"/>
          <p:cNvCxnSpPr/>
          <p:nvPr/>
        </p:nvCxnSpPr>
        <p:spPr>
          <a:xfrm rot="10800000">
            <a:off x="6499995" y="3761036"/>
            <a:ext cx="0" cy="3281529"/>
          </a:xfrm>
          <a:prstGeom prst="straightConnector1">
            <a:avLst/>
          </a:prstGeom>
          <a:noFill/>
          <a:ln w="19050" cap="rnd" cmpd="sng">
            <a:solidFill>
              <a:srgbClr val="24485E"/>
            </a:solidFill>
            <a:prstDash val="lgDash"/>
            <a:round/>
            <a:headEnd type="none" w="sm" len="sm"/>
            <a:tailEnd type="none" w="sm" len="sm"/>
          </a:ln>
        </p:spPr>
      </p:cxnSp>
      <p:cxnSp>
        <p:nvCxnSpPr>
          <p:cNvPr id="192" name="Google Shape;192;p3"/>
          <p:cNvCxnSpPr/>
          <p:nvPr/>
        </p:nvCxnSpPr>
        <p:spPr>
          <a:xfrm rot="10800000">
            <a:off x="11786151" y="3761036"/>
            <a:ext cx="0" cy="3281529"/>
          </a:xfrm>
          <a:prstGeom prst="straightConnector1">
            <a:avLst/>
          </a:prstGeom>
          <a:noFill/>
          <a:ln w="19050" cap="rnd" cmpd="sng">
            <a:solidFill>
              <a:srgbClr val="24485E"/>
            </a:solidFill>
            <a:prstDash val="lgDash"/>
            <a:round/>
            <a:headEnd type="none" w="sm" len="sm"/>
            <a:tailEnd type="none" w="sm" len="sm"/>
          </a:ln>
        </p:spPr>
      </p:cxnSp>
      <p:grpSp>
        <p:nvGrpSpPr>
          <p:cNvPr id="193" name="Google Shape;193;p3"/>
          <p:cNvGrpSpPr/>
          <p:nvPr/>
        </p:nvGrpSpPr>
        <p:grpSpPr>
          <a:xfrm>
            <a:off x="1483040" y="7854907"/>
            <a:ext cx="15614423" cy="1403393"/>
            <a:chOff x="0" y="-47625"/>
            <a:chExt cx="4112441" cy="369618"/>
          </a:xfrm>
        </p:grpSpPr>
        <p:sp>
          <p:nvSpPr>
            <p:cNvPr id="194" name="Google Shape;194;p3"/>
            <p:cNvSpPr/>
            <p:nvPr/>
          </p:nvSpPr>
          <p:spPr>
            <a:xfrm>
              <a:off x="0" y="0"/>
              <a:ext cx="4112440" cy="321993"/>
            </a:xfrm>
            <a:custGeom>
              <a:avLst/>
              <a:gdLst/>
              <a:ahLst/>
              <a:cxnLst/>
              <a:rect l="l" t="t" r="r" b="b"/>
              <a:pathLst>
                <a:path w="4112440" h="321993" extrusionOk="0">
                  <a:moveTo>
                    <a:pt x="5454" y="0"/>
                  </a:moveTo>
                  <a:lnTo>
                    <a:pt x="4106987" y="0"/>
                  </a:lnTo>
                  <a:cubicBezTo>
                    <a:pt x="4109999" y="0"/>
                    <a:pt x="4112440" y="2442"/>
                    <a:pt x="4112440" y="5454"/>
                  </a:cubicBezTo>
                  <a:lnTo>
                    <a:pt x="4112440" y="316539"/>
                  </a:lnTo>
                  <a:cubicBezTo>
                    <a:pt x="4112440" y="319551"/>
                    <a:pt x="4109999" y="321993"/>
                    <a:pt x="4106987" y="321993"/>
                  </a:cubicBezTo>
                  <a:lnTo>
                    <a:pt x="5454" y="321993"/>
                  </a:lnTo>
                  <a:cubicBezTo>
                    <a:pt x="2442" y="321993"/>
                    <a:pt x="0" y="319551"/>
                    <a:pt x="0" y="316539"/>
                  </a:cubicBezTo>
                  <a:lnTo>
                    <a:pt x="0" y="5454"/>
                  </a:lnTo>
                  <a:cubicBezTo>
                    <a:pt x="0" y="2442"/>
                    <a:pt x="2442" y="0"/>
                    <a:pt x="5454" y="0"/>
                  </a:cubicBezTo>
                  <a:close/>
                </a:path>
              </a:pathLst>
            </a:custGeom>
            <a:solidFill>
              <a:srgbClr val="EFEF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0" y="-47625"/>
              <a:ext cx="4112441" cy="3696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3"/>
          <p:cNvSpPr txBox="1"/>
          <p:nvPr/>
        </p:nvSpPr>
        <p:spPr>
          <a:xfrm>
            <a:off x="530369" y="1498455"/>
            <a:ext cx="17215971" cy="180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6"/>
              </a:lnSpc>
            </a:pPr>
            <a:r>
              <a:rPr lang="en-US" sz="6579" dirty="0">
                <a:solidFill>
                  <a:srgbClr val="24485E"/>
                </a:solidFill>
                <a:latin typeface="Arial"/>
                <a:cs typeface="Arial"/>
                <a:sym typeface="Arial"/>
              </a:rPr>
              <a:t>AXI </a:t>
            </a:r>
            <a:r>
              <a:rPr lang="en-US" altLang="ko-KR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handshake</a:t>
            </a:r>
          </a:p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3"/>
          <p:cNvSpPr txBox="1"/>
          <p:nvPr/>
        </p:nvSpPr>
        <p:spPr>
          <a:xfrm>
            <a:off x="1840725" y="3900797"/>
            <a:ext cx="407196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VALID </a:t>
            </a:r>
            <a:r>
              <a:rPr lang="ko-KR" altLang="en-US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신호가 앞서는 경우 </a:t>
            </a:r>
            <a:endParaRPr sz="2000" dirty="0">
              <a:solidFill>
                <a:schemeClr val="bg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6858003" y="3929917"/>
            <a:ext cx="46150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READY </a:t>
            </a:r>
            <a:r>
              <a:rPr lang="ko-KR" altLang="en-US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신호가 앞서는 경우</a:t>
            </a:r>
            <a:endParaRPr sz="2000" dirty="0">
              <a:solidFill>
                <a:schemeClr val="bg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11286650" y="3958745"/>
            <a:ext cx="69341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VALID</a:t>
            </a:r>
            <a:r>
              <a:rPr lang="ko-KR" altLang="en-US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신호와 </a:t>
            </a:r>
            <a:r>
              <a:rPr lang="en-US" altLang="ko-KR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READY</a:t>
            </a:r>
            <a:r>
              <a:rPr lang="ko-KR" altLang="en-US" sz="2000" b="1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신호가 동시에 활성화</a:t>
            </a:r>
            <a:endParaRPr sz="2000" dirty="0">
              <a:solidFill>
                <a:schemeClr val="bg1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1500932" y="8445618"/>
            <a:ext cx="1558679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ko-KR" altLang="en-US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데이터 전송은 </a:t>
            </a:r>
            <a:r>
              <a:rPr lang="en-US" altLang="ko-KR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VALID </a:t>
            </a:r>
            <a:r>
              <a:rPr lang="ko-KR" altLang="en-US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와 </a:t>
            </a:r>
            <a:r>
              <a:rPr lang="en-US" altLang="ko-KR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READY</a:t>
            </a:r>
            <a:r>
              <a:rPr lang="ko-KR" altLang="en-US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신호가 동시에 </a:t>
            </a:r>
            <a:r>
              <a:rPr lang="en-US" altLang="ko-KR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HIGH</a:t>
            </a:r>
            <a:r>
              <a:rPr lang="ko-KR" altLang="en-US" b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인 경우에만 수행된다</a:t>
            </a:r>
            <a:endParaRPr b="1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1387887" y="7923541"/>
            <a:ext cx="651162" cy="695416"/>
          </a:xfrm>
          <a:custGeom>
            <a:avLst/>
            <a:gdLst/>
            <a:ahLst/>
            <a:cxnLst/>
            <a:rect l="l" t="t" r="r" b="b"/>
            <a:pathLst>
              <a:path w="651162" h="695416" extrusionOk="0">
                <a:moveTo>
                  <a:pt x="0" y="0"/>
                </a:moveTo>
                <a:lnTo>
                  <a:pt x="651163" y="0"/>
                </a:lnTo>
                <a:lnTo>
                  <a:pt x="651163" y="695416"/>
                </a:lnTo>
                <a:lnTo>
                  <a:pt x="0" y="695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DED7DD1-2649-228E-5583-CCDA53A2BE5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7370" y="4507314"/>
            <a:ext cx="5266207" cy="273647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669F9AD-0086-D0DB-CD59-18E77FF9B3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1028" y="4535172"/>
            <a:ext cx="5022258" cy="26791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1D31FFC-2C52-A8D1-4077-58373263A38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85653" y="4732556"/>
            <a:ext cx="4733886" cy="25025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EB41-DA5B-B95B-8832-3DF2F523F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FFEF5D-E990-13F1-56AF-31D091FF2E29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03E9EA-0554-4785-52A5-F1CE2F286CD8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430C76D-9B06-81D3-867F-0A912AF838A5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1FFE3628-0B2A-7112-62F0-DA10EFE2085B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76DE9B2-0C96-D48F-148F-7913F67A6721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3E00683-B566-1ECE-206C-D8EBAAC53EF2}"/>
              </a:ext>
            </a:extLst>
          </p:cNvPr>
          <p:cNvSpPr txBox="1"/>
          <p:nvPr/>
        </p:nvSpPr>
        <p:spPr>
          <a:xfrm>
            <a:off x="530369" y="1498455"/>
            <a:ext cx="17215971" cy="202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</a:t>
            </a:r>
            <a:r>
              <a:rPr lang="ko-KR" alt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의 </a:t>
            </a:r>
            <a:r>
              <a:rPr lang="en-US" altLang="ko-KR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5</a:t>
            </a:r>
            <a:r>
              <a:rPr lang="ko-KR" alt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개의 채널</a:t>
            </a:r>
            <a:br>
              <a:rPr lang="ko-KR" altLang="en-US" sz="6600" dirty="0"/>
            </a:br>
            <a:endParaRPr lang="en-US" sz="6579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7C477BB-069B-1320-600D-0F335DB9EF59}"/>
              </a:ext>
            </a:extLst>
          </p:cNvPr>
          <p:cNvSpPr/>
          <p:nvPr/>
        </p:nvSpPr>
        <p:spPr>
          <a:xfrm>
            <a:off x="1387887" y="7923541"/>
            <a:ext cx="651162" cy="695416"/>
          </a:xfrm>
          <a:custGeom>
            <a:avLst/>
            <a:gdLst/>
            <a:ahLst/>
            <a:cxnLst/>
            <a:rect l="l" t="t" r="r" b="b"/>
            <a:pathLst>
              <a:path w="651162" h="695416">
                <a:moveTo>
                  <a:pt x="0" y="0"/>
                </a:moveTo>
                <a:lnTo>
                  <a:pt x="651163" y="0"/>
                </a:lnTo>
                <a:lnTo>
                  <a:pt x="651163" y="695416"/>
                </a:lnTo>
                <a:lnTo>
                  <a:pt x="0" y="695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F2D9A0-8F7A-DA5B-C716-F816B9F8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244824"/>
            <a:ext cx="6172200" cy="6328003"/>
          </a:xfrm>
          <a:prstGeom prst="rect">
            <a:avLst/>
          </a:prstGeom>
        </p:spPr>
      </p:pic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1C01B8B1-F148-F452-94BE-B57FA7F483D2}"/>
              </a:ext>
            </a:extLst>
          </p:cNvPr>
          <p:cNvSpPr/>
          <p:nvPr/>
        </p:nvSpPr>
        <p:spPr>
          <a:xfrm>
            <a:off x="17353046" y="9425245"/>
            <a:ext cx="390836" cy="360666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56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0AADB-8BDC-9214-C175-5115B903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CBF200-0DA7-E0AD-1565-364830859C49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7E8DD8-0FC5-1145-67D0-B5E80D9C3F5C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046242E-C344-E0F8-1214-779E02EFD81A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FFEB6C52-FEBB-2328-4B75-B43A572B69C7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41F6098-0F56-1D13-70FB-8F701001B1FE}"/>
              </a:ext>
            </a:extLst>
          </p:cNvPr>
          <p:cNvGrpSpPr/>
          <p:nvPr/>
        </p:nvGrpSpPr>
        <p:grpSpPr>
          <a:xfrm>
            <a:off x="1305341" y="3726459"/>
            <a:ext cx="7838659" cy="5611133"/>
            <a:chOff x="0" y="0"/>
            <a:chExt cx="2064503" cy="135010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EC3FE53-E0E8-735F-36A8-BAEAB8785970}"/>
                </a:ext>
              </a:extLst>
            </p:cNvPr>
            <p:cNvSpPr/>
            <p:nvPr/>
          </p:nvSpPr>
          <p:spPr>
            <a:xfrm>
              <a:off x="0" y="0"/>
              <a:ext cx="2064503" cy="1350102"/>
            </a:xfrm>
            <a:custGeom>
              <a:avLst/>
              <a:gdLst/>
              <a:ahLst/>
              <a:cxnLst/>
              <a:rect l="l" t="t" r="r" b="b"/>
              <a:pathLst>
                <a:path w="2064503" h="1350102">
                  <a:moveTo>
                    <a:pt x="5926" y="0"/>
                  </a:moveTo>
                  <a:lnTo>
                    <a:pt x="2058577" y="0"/>
                  </a:lnTo>
                  <a:cubicBezTo>
                    <a:pt x="2060148" y="0"/>
                    <a:pt x="2061656" y="624"/>
                    <a:pt x="2062767" y="1736"/>
                  </a:cubicBezTo>
                  <a:cubicBezTo>
                    <a:pt x="2063878" y="2847"/>
                    <a:pt x="2064503" y="4354"/>
                    <a:pt x="2064503" y="5926"/>
                  </a:cubicBezTo>
                  <a:lnTo>
                    <a:pt x="2064503" y="1344176"/>
                  </a:lnTo>
                  <a:cubicBezTo>
                    <a:pt x="2064503" y="1347449"/>
                    <a:pt x="2061850" y="1350102"/>
                    <a:pt x="2058577" y="1350102"/>
                  </a:cubicBezTo>
                  <a:lnTo>
                    <a:pt x="5926" y="1350102"/>
                  </a:lnTo>
                  <a:cubicBezTo>
                    <a:pt x="2653" y="1350102"/>
                    <a:pt x="0" y="1347449"/>
                    <a:pt x="0" y="1344176"/>
                  </a:cubicBezTo>
                  <a:lnTo>
                    <a:pt x="0" y="5926"/>
                  </a:lnTo>
                  <a:cubicBezTo>
                    <a:pt x="0" y="4354"/>
                    <a:pt x="624" y="2847"/>
                    <a:pt x="1736" y="1736"/>
                  </a:cubicBezTo>
                  <a:cubicBezTo>
                    <a:pt x="2847" y="624"/>
                    <a:pt x="4354" y="0"/>
                    <a:pt x="5926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0BA7A4E-EE96-BAEF-84DA-92E6747DA288}"/>
                </a:ext>
              </a:extLst>
            </p:cNvPr>
            <p:cNvSpPr txBox="1"/>
            <p:nvPr/>
          </p:nvSpPr>
          <p:spPr>
            <a:xfrm>
              <a:off x="0" y="-47625"/>
              <a:ext cx="20645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7F35CA5-B33F-B60B-3304-801AB5684687}"/>
              </a:ext>
            </a:extLst>
          </p:cNvPr>
          <p:cNvGrpSpPr/>
          <p:nvPr/>
        </p:nvGrpSpPr>
        <p:grpSpPr>
          <a:xfrm>
            <a:off x="9364277" y="3726459"/>
            <a:ext cx="7838659" cy="5611133"/>
            <a:chOff x="0" y="0"/>
            <a:chExt cx="2064503" cy="135010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CC05EBD-018F-D09C-8263-7C97AF6AB2F4}"/>
                </a:ext>
              </a:extLst>
            </p:cNvPr>
            <p:cNvSpPr/>
            <p:nvPr/>
          </p:nvSpPr>
          <p:spPr>
            <a:xfrm>
              <a:off x="0" y="0"/>
              <a:ext cx="2064503" cy="1350102"/>
            </a:xfrm>
            <a:custGeom>
              <a:avLst/>
              <a:gdLst/>
              <a:ahLst/>
              <a:cxnLst/>
              <a:rect l="l" t="t" r="r" b="b"/>
              <a:pathLst>
                <a:path w="2064503" h="1350102">
                  <a:moveTo>
                    <a:pt x="5926" y="0"/>
                  </a:moveTo>
                  <a:lnTo>
                    <a:pt x="2058577" y="0"/>
                  </a:lnTo>
                  <a:cubicBezTo>
                    <a:pt x="2060148" y="0"/>
                    <a:pt x="2061656" y="624"/>
                    <a:pt x="2062767" y="1736"/>
                  </a:cubicBezTo>
                  <a:cubicBezTo>
                    <a:pt x="2063878" y="2847"/>
                    <a:pt x="2064503" y="4354"/>
                    <a:pt x="2064503" y="5926"/>
                  </a:cubicBezTo>
                  <a:lnTo>
                    <a:pt x="2064503" y="1344176"/>
                  </a:lnTo>
                  <a:cubicBezTo>
                    <a:pt x="2064503" y="1347449"/>
                    <a:pt x="2061850" y="1350102"/>
                    <a:pt x="2058577" y="1350102"/>
                  </a:cubicBezTo>
                  <a:lnTo>
                    <a:pt x="5926" y="1350102"/>
                  </a:lnTo>
                  <a:cubicBezTo>
                    <a:pt x="2653" y="1350102"/>
                    <a:pt x="0" y="1347449"/>
                    <a:pt x="0" y="1344176"/>
                  </a:cubicBezTo>
                  <a:lnTo>
                    <a:pt x="0" y="5926"/>
                  </a:lnTo>
                  <a:cubicBezTo>
                    <a:pt x="0" y="4354"/>
                    <a:pt x="624" y="2847"/>
                    <a:pt x="1736" y="1736"/>
                  </a:cubicBezTo>
                  <a:cubicBezTo>
                    <a:pt x="2847" y="624"/>
                    <a:pt x="4354" y="0"/>
                    <a:pt x="5926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EF563ED-63EC-D8E0-B78F-EE8DDA8703CF}"/>
                </a:ext>
              </a:extLst>
            </p:cNvPr>
            <p:cNvSpPr txBox="1"/>
            <p:nvPr/>
          </p:nvSpPr>
          <p:spPr>
            <a:xfrm>
              <a:off x="0" y="-47625"/>
              <a:ext cx="20645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E43310AD-778D-9040-B5CC-DA0C41F80B11}"/>
              </a:ext>
            </a:extLst>
          </p:cNvPr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Reg to Reg </a:t>
            </a: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구조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B08D1AF-07C8-B841-DF02-13A9772CB1F6}"/>
              </a:ext>
            </a:extLst>
          </p:cNvPr>
          <p:cNvSpPr txBox="1"/>
          <p:nvPr/>
        </p:nvSpPr>
        <p:spPr>
          <a:xfrm>
            <a:off x="10048459" y="5154424"/>
            <a:ext cx="6815723" cy="248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레지스터 간 직접 연결을 통해 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Mano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아키텍처의 버스 병목 해결</a:t>
            </a:r>
          </a:p>
          <a:p>
            <a:pPr algn="just">
              <a:lnSpc>
                <a:spcPts val="2775"/>
              </a:lnSpc>
            </a:pP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특정 상태에서 주소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(mem_addr)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와 데이터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(mem_wdata)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동시 출력이 가능해짐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AXI4-Lite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쓰기 트랜잭션 시 주소 채널과 데이터 채널의 병렬 전송 효율을 극대화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78ED14-B710-086E-0F4C-A0A44B8A97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800" y="4409466"/>
            <a:ext cx="5791200" cy="452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9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DF68-9654-E162-866E-88A1C89A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61B77B-48CB-515D-0D2B-00CB8699741B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072E95-2517-B131-50A0-EBD9652BD224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4638A7-164A-5B3F-99FA-063905D29CFA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7AEA881E-8490-EFC0-884E-9D8C493ABBD0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B20D4F5-EAB0-217C-B410-DD4945CADFAC}"/>
              </a:ext>
            </a:extLst>
          </p:cNvPr>
          <p:cNvGrpSpPr/>
          <p:nvPr/>
        </p:nvGrpSpPr>
        <p:grpSpPr>
          <a:xfrm>
            <a:off x="1305341" y="3726459"/>
            <a:ext cx="7838659" cy="5611133"/>
            <a:chOff x="0" y="0"/>
            <a:chExt cx="2064503" cy="135010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7DFE094-2F45-A7C0-96A5-350489189C1C}"/>
                </a:ext>
              </a:extLst>
            </p:cNvPr>
            <p:cNvSpPr/>
            <p:nvPr/>
          </p:nvSpPr>
          <p:spPr>
            <a:xfrm>
              <a:off x="0" y="0"/>
              <a:ext cx="2064503" cy="1350102"/>
            </a:xfrm>
            <a:custGeom>
              <a:avLst/>
              <a:gdLst/>
              <a:ahLst/>
              <a:cxnLst/>
              <a:rect l="l" t="t" r="r" b="b"/>
              <a:pathLst>
                <a:path w="2064503" h="1350102">
                  <a:moveTo>
                    <a:pt x="5926" y="0"/>
                  </a:moveTo>
                  <a:lnTo>
                    <a:pt x="2058577" y="0"/>
                  </a:lnTo>
                  <a:cubicBezTo>
                    <a:pt x="2060148" y="0"/>
                    <a:pt x="2061656" y="624"/>
                    <a:pt x="2062767" y="1736"/>
                  </a:cubicBezTo>
                  <a:cubicBezTo>
                    <a:pt x="2063878" y="2847"/>
                    <a:pt x="2064503" y="4354"/>
                    <a:pt x="2064503" y="5926"/>
                  </a:cubicBezTo>
                  <a:lnTo>
                    <a:pt x="2064503" y="1344176"/>
                  </a:lnTo>
                  <a:cubicBezTo>
                    <a:pt x="2064503" y="1347449"/>
                    <a:pt x="2061850" y="1350102"/>
                    <a:pt x="2058577" y="1350102"/>
                  </a:cubicBezTo>
                  <a:lnTo>
                    <a:pt x="5926" y="1350102"/>
                  </a:lnTo>
                  <a:cubicBezTo>
                    <a:pt x="2653" y="1350102"/>
                    <a:pt x="0" y="1347449"/>
                    <a:pt x="0" y="1344176"/>
                  </a:cubicBezTo>
                  <a:lnTo>
                    <a:pt x="0" y="5926"/>
                  </a:lnTo>
                  <a:cubicBezTo>
                    <a:pt x="0" y="4354"/>
                    <a:pt x="624" y="2847"/>
                    <a:pt x="1736" y="1736"/>
                  </a:cubicBezTo>
                  <a:cubicBezTo>
                    <a:pt x="2847" y="624"/>
                    <a:pt x="4354" y="0"/>
                    <a:pt x="5926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67E1CCB-5BDD-BBE9-1470-3D02F42BCD3E}"/>
                </a:ext>
              </a:extLst>
            </p:cNvPr>
            <p:cNvSpPr txBox="1"/>
            <p:nvPr/>
          </p:nvSpPr>
          <p:spPr>
            <a:xfrm>
              <a:off x="0" y="-47625"/>
              <a:ext cx="20645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CD9BF18-C8AF-2B91-F178-A781063CFAE2}"/>
              </a:ext>
            </a:extLst>
          </p:cNvPr>
          <p:cNvGrpSpPr/>
          <p:nvPr/>
        </p:nvGrpSpPr>
        <p:grpSpPr>
          <a:xfrm>
            <a:off x="9364277" y="3726459"/>
            <a:ext cx="7838659" cy="5611133"/>
            <a:chOff x="0" y="0"/>
            <a:chExt cx="2064503" cy="135010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087D3B2-6CC0-6E79-AD50-65D28DD4E6AD}"/>
                </a:ext>
              </a:extLst>
            </p:cNvPr>
            <p:cNvSpPr/>
            <p:nvPr/>
          </p:nvSpPr>
          <p:spPr>
            <a:xfrm>
              <a:off x="0" y="0"/>
              <a:ext cx="2064503" cy="1350102"/>
            </a:xfrm>
            <a:custGeom>
              <a:avLst/>
              <a:gdLst/>
              <a:ahLst/>
              <a:cxnLst/>
              <a:rect l="l" t="t" r="r" b="b"/>
              <a:pathLst>
                <a:path w="2064503" h="1350102">
                  <a:moveTo>
                    <a:pt x="5926" y="0"/>
                  </a:moveTo>
                  <a:lnTo>
                    <a:pt x="2058577" y="0"/>
                  </a:lnTo>
                  <a:cubicBezTo>
                    <a:pt x="2060148" y="0"/>
                    <a:pt x="2061656" y="624"/>
                    <a:pt x="2062767" y="1736"/>
                  </a:cubicBezTo>
                  <a:cubicBezTo>
                    <a:pt x="2063878" y="2847"/>
                    <a:pt x="2064503" y="4354"/>
                    <a:pt x="2064503" y="5926"/>
                  </a:cubicBezTo>
                  <a:lnTo>
                    <a:pt x="2064503" y="1344176"/>
                  </a:lnTo>
                  <a:cubicBezTo>
                    <a:pt x="2064503" y="1347449"/>
                    <a:pt x="2061850" y="1350102"/>
                    <a:pt x="2058577" y="1350102"/>
                  </a:cubicBezTo>
                  <a:lnTo>
                    <a:pt x="5926" y="1350102"/>
                  </a:lnTo>
                  <a:cubicBezTo>
                    <a:pt x="2653" y="1350102"/>
                    <a:pt x="0" y="1347449"/>
                    <a:pt x="0" y="1344176"/>
                  </a:cubicBezTo>
                  <a:lnTo>
                    <a:pt x="0" y="5926"/>
                  </a:lnTo>
                  <a:cubicBezTo>
                    <a:pt x="0" y="4354"/>
                    <a:pt x="624" y="2847"/>
                    <a:pt x="1736" y="1736"/>
                  </a:cubicBezTo>
                  <a:cubicBezTo>
                    <a:pt x="2847" y="624"/>
                    <a:pt x="4354" y="0"/>
                    <a:pt x="5926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D070BFF-5047-EC15-0FA3-03EA1A0E9199}"/>
                </a:ext>
              </a:extLst>
            </p:cNvPr>
            <p:cNvSpPr txBox="1"/>
            <p:nvPr/>
          </p:nvSpPr>
          <p:spPr>
            <a:xfrm>
              <a:off x="0" y="-47625"/>
              <a:ext cx="20645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AutoShape 22">
            <a:extLst>
              <a:ext uri="{FF2B5EF4-FFF2-40B4-BE49-F238E27FC236}">
                <a16:creationId xmlns:a16="http://schemas.microsoft.com/office/drawing/2014/main" id="{6DD4CA31-2524-FD1D-51A5-2FE9F36B57D9}"/>
              </a:ext>
            </a:extLst>
          </p:cNvPr>
          <p:cNvSpPr/>
          <p:nvPr/>
        </p:nvSpPr>
        <p:spPr>
          <a:xfrm>
            <a:off x="9684730" y="6672169"/>
            <a:ext cx="7055215" cy="0"/>
          </a:xfrm>
          <a:prstGeom prst="line">
            <a:avLst/>
          </a:prstGeom>
          <a:ln w="28575" cap="rnd">
            <a:solidFill>
              <a:srgbClr val="24485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1D779A0-F2C0-AC6A-CDAF-05D8B83CB50F}"/>
              </a:ext>
            </a:extLst>
          </p:cNvPr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Interface </a:t>
            </a: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통신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660DDE7-003B-9C16-5BF9-74EC02A23C8A}"/>
              </a:ext>
            </a:extLst>
          </p:cNvPr>
          <p:cNvSpPr txBox="1"/>
          <p:nvPr/>
        </p:nvSpPr>
        <p:spPr>
          <a:xfrm>
            <a:off x="9282556" y="4065593"/>
            <a:ext cx="7838659" cy="6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9"/>
              </a:lnSpc>
            </a:pPr>
            <a:r>
              <a:rPr lang="en-US" sz="3200" b="1" spc="-8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CPU </a:t>
            </a:r>
            <a:r>
              <a:rPr lang="ko-KR" altLang="en-US" sz="3200" b="1" spc="-8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신호 추가</a:t>
            </a:r>
            <a:endParaRPr lang="en-US" sz="3200" b="1" spc="-8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AB262C1-24CC-7778-6EC7-9C5CD8B9BC97}"/>
              </a:ext>
            </a:extLst>
          </p:cNvPr>
          <p:cNvSpPr txBox="1"/>
          <p:nvPr/>
        </p:nvSpPr>
        <p:spPr>
          <a:xfrm>
            <a:off x="9237444" y="6727470"/>
            <a:ext cx="7838659" cy="6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9"/>
              </a:lnSpc>
            </a:pPr>
            <a:r>
              <a:rPr lang="en-US" sz="3200" b="1" spc="-8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Stall logic </a:t>
            </a:r>
            <a:r>
              <a:rPr lang="ko-KR" altLang="en-US" sz="3200" b="1" spc="-8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추가</a:t>
            </a:r>
            <a:endParaRPr lang="en-US" sz="3200" b="1" spc="-8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4F6DE67-6EA9-7FAF-51ED-7750E166AA60}"/>
              </a:ext>
            </a:extLst>
          </p:cNvPr>
          <p:cNvSpPr txBox="1"/>
          <p:nvPr/>
        </p:nvSpPr>
        <p:spPr>
          <a:xfrm>
            <a:off x="10457211" y="5008804"/>
            <a:ext cx="6815723" cy="212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외부 버스 동기화를 위해 포트 추가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mem_req, we -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메모리 요청 및 읽기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쓰기 판단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it-IT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io_req, io_addr, io_wdata – - I/O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장치를 위한 신호 전달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cpu_ready – - AXI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인터페이스의 완료 판단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endParaRPr lang="en-US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B5D8E85-7CAA-DD80-5C96-E411BCCC30B7}"/>
              </a:ext>
            </a:extLst>
          </p:cNvPr>
          <p:cNvSpPr txBox="1"/>
          <p:nvPr/>
        </p:nvSpPr>
        <p:spPr>
          <a:xfrm>
            <a:off x="9924222" y="7597987"/>
            <a:ext cx="6815723" cy="1408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interface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응답 지연 대응 위해 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stall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추가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SC  &lt;= SC;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이용해 현제 상태서 대기</a:t>
            </a:r>
            <a:endParaRPr lang="en-US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instruction fetch (T1),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메모리 읽기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쓰기 </a:t>
            </a:r>
            <a:r>
              <a:rPr lang="en-US" altLang="ko-KR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(T6)</a:t>
            </a:r>
            <a:endParaRPr lang="en-US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- –mem_req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활성 후</a:t>
            </a:r>
            <a:r>
              <a:rPr 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cpu_ready </a:t>
            </a:r>
            <a:r>
              <a:rPr lang="ko-KR" altLang="en-US" sz="1779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 대기</a:t>
            </a: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843A430-D12D-2E83-FA12-D8D334C5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313193"/>
            <a:ext cx="6440358" cy="442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37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I/O </a:t>
            </a: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명령어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198850" y="3831014"/>
            <a:ext cx="641822" cy="2058591"/>
            <a:chOff x="0" y="0"/>
            <a:chExt cx="855762" cy="274478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27980" cy="2744788"/>
              <a:chOff x="0" y="0"/>
              <a:chExt cx="143798" cy="5421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3798" cy="542180"/>
              </a:xfrm>
              <a:custGeom>
                <a:avLst/>
                <a:gdLst/>
                <a:ahLst/>
                <a:cxnLst/>
                <a:rect l="l" t="t" r="r" b="b"/>
                <a:pathLst>
                  <a:path w="143798" h="542180">
                    <a:moveTo>
                      <a:pt x="71899" y="0"/>
                    </a:moveTo>
                    <a:lnTo>
                      <a:pt x="71899" y="0"/>
                    </a:lnTo>
                    <a:cubicBezTo>
                      <a:pt x="90968" y="0"/>
                      <a:pt x="109256" y="7575"/>
                      <a:pt x="122740" y="21059"/>
                    </a:cubicBezTo>
                    <a:cubicBezTo>
                      <a:pt x="136223" y="34543"/>
                      <a:pt x="143798" y="52830"/>
                      <a:pt x="143798" y="71899"/>
                    </a:cubicBezTo>
                    <a:lnTo>
                      <a:pt x="143798" y="470281"/>
                    </a:lnTo>
                    <a:cubicBezTo>
                      <a:pt x="143798" y="509990"/>
                      <a:pt x="111608" y="542180"/>
                      <a:pt x="71899" y="542180"/>
                    </a:cubicBezTo>
                    <a:lnTo>
                      <a:pt x="71899" y="542180"/>
                    </a:lnTo>
                    <a:cubicBezTo>
                      <a:pt x="32190" y="542180"/>
                      <a:pt x="0" y="509990"/>
                      <a:pt x="0" y="470281"/>
                    </a:cubicBezTo>
                    <a:lnTo>
                      <a:pt x="0" y="71899"/>
                    </a:lnTo>
                    <a:cubicBezTo>
                      <a:pt x="0" y="32190"/>
                      <a:pt x="32190" y="0"/>
                      <a:pt x="71899" y="0"/>
                    </a:cubicBezTo>
                    <a:close/>
                  </a:path>
                </a:pathLst>
              </a:custGeom>
              <a:solidFill>
                <a:srgbClr val="24485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43798" cy="589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7783" y="0"/>
              <a:ext cx="727980" cy="2744788"/>
              <a:chOff x="0" y="0"/>
              <a:chExt cx="143798" cy="5421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3798" cy="542180"/>
              </a:xfrm>
              <a:custGeom>
                <a:avLst/>
                <a:gdLst/>
                <a:ahLst/>
                <a:cxnLst/>
                <a:rect l="l" t="t" r="r" b="b"/>
                <a:pathLst>
                  <a:path w="143798" h="542180">
                    <a:moveTo>
                      <a:pt x="71899" y="0"/>
                    </a:moveTo>
                    <a:lnTo>
                      <a:pt x="71899" y="0"/>
                    </a:lnTo>
                    <a:cubicBezTo>
                      <a:pt x="90968" y="0"/>
                      <a:pt x="109256" y="7575"/>
                      <a:pt x="122740" y="21059"/>
                    </a:cubicBezTo>
                    <a:cubicBezTo>
                      <a:pt x="136223" y="34543"/>
                      <a:pt x="143798" y="52830"/>
                      <a:pt x="143798" y="71899"/>
                    </a:cubicBezTo>
                    <a:lnTo>
                      <a:pt x="143798" y="470281"/>
                    </a:lnTo>
                    <a:cubicBezTo>
                      <a:pt x="143798" y="509990"/>
                      <a:pt x="111608" y="542180"/>
                      <a:pt x="71899" y="542180"/>
                    </a:cubicBezTo>
                    <a:lnTo>
                      <a:pt x="71899" y="542180"/>
                    </a:lnTo>
                    <a:cubicBezTo>
                      <a:pt x="32190" y="542180"/>
                      <a:pt x="0" y="509990"/>
                      <a:pt x="0" y="470281"/>
                    </a:cubicBezTo>
                    <a:lnTo>
                      <a:pt x="0" y="71899"/>
                    </a:lnTo>
                    <a:cubicBezTo>
                      <a:pt x="0" y="32190"/>
                      <a:pt x="32190" y="0"/>
                      <a:pt x="71899" y="0"/>
                    </a:cubicBezTo>
                    <a:close/>
                  </a:path>
                </a:pathLst>
              </a:custGeom>
              <a:solidFill>
                <a:srgbClr val="FBFC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43798" cy="589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9798092" y="7446434"/>
            <a:ext cx="641822" cy="2058591"/>
            <a:chOff x="0" y="0"/>
            <a:chExt cx="855762" cy="2744788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27980" cy="2744788"/>
              <a:chOff x="0" y="0"/>
              <a:chExt cx="143798" cy="54218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3798" cy="542180"/>
              </a:xfrm>
              <a:custGeom>
                <a:avLst/>
                <a:gdLst/>
                <a:ahLst/>
                <a:cxnLst/>
                <a:rect l="l" t="t" r="r" b="b"/>
                <a:pathLst>
                  <a:path w="143798" h="542180">
                    <a:moveTo>
                      <a:pt x="71899" y="0"/>
                    </a:moveTo>
                    <a:lnTo>
                      <a:pt x="71899" y="0"/>
                    </a:lnTo>
                    <a:cubicBezTo>
                      <a:pt x="90968" y="0"/>
                      <a:pt x="109256" y="7575"/>
                      <a:pt x="122740" y="21059"/>
                    </a:cubicBezTo>
                    <a:cubicBezTo>
                      <a:pt x="136223" y="34543"/>
                      <a:pt x="143798" y="52830"/>
                      <a:pt x="143798" y="71899"/>
                    </a:cubicBezTo>
                    <a:lnTo>
                      <a:pt x="143798" y="470281"/>
                    </a:lnTo>
                    <a:cubicBezTo>
                      <a:pt x="143798" y="509990"/>
                      <a:pt x="111608" y="542180"/>
                      <a:pt x="71899" y="542180"/>
                    </a:cubicBezTo>
                    <a:lnTo>
                      <a:pt x="71899" y="542180"/>
                    </a:lnTo>
                    <a:cubicBezTo>
                      <a:pt x="32190" y="542180"/>
                      <a:pt x="0" y="509990"/>
                      <a:pt x="0" y="470281"/>
                    </a:cubicBezTo>
                    <a:lnTo>
                      <a:pt x="0" y="71899"/>
                    </a:lnTo>
                    <a:cubicBezTo>
                      <a:pt x="0" y="32190"/>
                      <a:pt x="32190" y="0"/>
                      <a:pt x="71899" y="0"/>
                    </a:cubicBezTo>
                    <a:close/>
                  </a:path>
                </a:pathLst>
              </a:custGeom>
              <a:solidFill>
                <a:srgbClr val="24485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43798" cy="589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27783" y="0"/>
              <a:ext cx="727980" cy="2744788"/>
              <a:chOff x="0" y="0"/>
              <a:chExt cx="143798" cy="54218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3798" cy="542180"/>
              </a:xfrm>
              <a:custGeom>
                <a:avLst/>
                <a:gdLst/>
                <a:ahLst/>
                <a:cxnLst/>
                <a:rect l="l" t="t" r="r" b="b"/>
                <a:pathLst>
                  <a:path w="143798" h="542180">
                    <a:moveTo>
                      <a:pt x="71899" y="0"/>
                    </a:moveTo>
                    <a:lnTo>
                      <a:pt x="71899" y="0"/>
                    </a:lnTo>
                    <a:cubicBezTo>
                      <a:pt x="90968" y="0"/>
                      <a:pt x="109256" y="7575"/>
                      <a:pt x="122740" y="21059"/>
                    </a:cubicBezTo>
                    <a:cubicBezTo>
                      <a:pt x="136223" y="34543"/>
                      <a:pt x="143798" y="52830"/>
                      <a:pt x="143798" y="71899"/>
                    </a:cubicBezTo>
                    <a:lnTo>
                      <a:pt x="143798" y="470281"/>
                    </a:lnTo>
                    <a:cubicBezTo>
                      <a:pt x="143798" y="509990"/>
                      <a:pt x="111608" y="542180"/>
                      <a:pt x="71899" y="542180"/>
                    </a:cubicBezTo>
                    <a:lnTo>
                      <a:pt x="71899" y="542180"/>
                    </a:lnTo>
                    <a:cubicBezTo>
                      <a:pt x="32190" y="542180"/>
                      <a:pt x="0" y="509990"/>
                      <a:pt x="0" y="470281"/>
                    </a:cubicBezTo>
                    <a:lnTo>
                      <a:pt x="0" y="71899"/>
                    </a:lnTo>
                    <a:cubicBezTo>
                      <a:pt x="0" y="32190"/>
                      <a:pt x="32190" y="0"/>
                      <a:pt x="71899" y="0"/>
                    </a:cubicBezTo>
                    <a:close/>
                  </a:path>
                </a:pathLst>
              </a:custGeom>
              <a:solidFill>
                <a:srgbClr val="FBFC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43798" cy="589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5093040" y="5629576"/>
            <a:ext cx="641822" cy="2058591"/>
            <a:chOff x="0" y="0"/>
            <a:chExt cx="855762" cy="2744788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27980" cy="2744788"/>
              <a:chOff x="0" y="0"/>
              <a:chExt cx="143798" cy="54218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43798" cy="542180"/>
              </a:xfrm>
              <a:custGeom>
                <a:avLst/>
                <a:gdLst/>
                <a:ahLst/>
                <a:cxnLst/>
                <a:rect l="l" t="t" r="r" b="b"/>
                <a:pathLst>
                  <a:path w="143798" h="542180">
                    <a:moveTo>
                      <a:pt x="71899" y="0"/>
                    </a:moveTo>
                    <a:lnTo>
                      <a:pt x="71899" y="0"/>
                    </a:lnTo>
                    <a:cubicBezTo>
                      <a:pt x="90968" y="0"/>
                      <a:pt x="109256" y="7575"/>
                      <a:pt x="122740" y="21059"/>
                    </a:cubicBezTo>
                    <a:cubicBezTo>
                      <a:pt x="136223" y="34543"/>
                      <a:pt x="143798" y="52830"/>
                      <a:pt x="143798" y="71899"/>
                    </a:cubicBezTo>
                    <a:lnTo>
                      <a:pt x="143798" y="470281"/>
                    </a:lnTo>
                    <a:cubicBezTo>
                      <a:pt x="143798" y="509990"/>
                      <a:pt x="111608" y="542180"/>
                      <a:pt x="71899" y="542180"/>
                    </a:cubicBezTo>
                    <a:lnTo>
                      <a:pt x="71899" y="542180"/>
                    </a:lnTo>
                    <a:cubicBezTo>
                      <a:pt x="32190" y="542180"/>
                      <a:pt x="0" y="509990"/>
                      <a:pt x="0" y="470281"/>
                    </a:cubicBezTo>
                    <a:lnTo>
                      <a:pt x="0" y="71899"/>
                    </a:lnTo>
                    <a:cubicBezTo>
                      <a:pt x="0" y="32190"/>
                      <a:pt x="32190" y="0"/>
                      <a:pt x="71899" y="0"/>
                    </a:cubicBezTo>
                    <a:close/>
                  </a:path>
                </a:pathLst>
              </a:custGeom>
              <a:solidFill>
                <a:srgbClr val="24485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143798" cy="589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27783" y="0"/>
              <a:ext cx="727980" cy="2744788"/>
              <a:chOff x="0" y="0"/>
              <a:chExt cx="143798" cy="54218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43798" cy="542180"/>
              </a:xfrm>
              <a:custGeom>
                <a:avLst/>
                <a:gdLst/>
                <a:ahLst/>
                <a:cxnLst/>
                <a:rect l="l" t="t" r="r" b="b"/>
                <a:pathLst>
                  <a:path w="143798" h="542180">
                    <a:moveTo>
                      <a:pt x="71899" y="0"/>
                    </a:moveTo>
                    <a:lnTo>
                      <a:pt x="71899" y="0"/>
                    </a:lnTo>
                    <a:cubicBezTo>
                      <a:pt x="90968" y="0"/>
                      <a:pt x="109256" y="7575"/>
                      <a:pt x="122740" y="21059"/>
                    </a:cubicBezTo>
                    <a:cubicBezTo>
                      <a:pt x="136223" y="34543"/>
                      <a:pt x="143798" y="52830"/>
                      <a:pt x="143798" y="71899"/>
                    </a:cubicBezTo>
                    <a:lnTo>
                      <a:pt x="143798" y="470281"/>
                    </a:lnTo>
                    <a:cubicBezTo>
                      <a:pt x="143798" y="509990"/>
                      <a:pt x="111608" y="542180"/>
                      <a:pt x="71899" y="542180"/>
                    </a:cubicBezTo>
                    <a:lnTo>
                      <a:pt x="71899" y="542180"/>
                    </a:lnTo>
                    <a:cubicBezTo>
                      <a:pt x="32190" y="542180"/>
                      <a:pt x="0" y="509990"/>
                      <a:pt x="0" y="470281"/>
                    </a:cubicBezTo>
                    <a:lnTo>
                      <a:pt x="0" y="71899"/>
                    </a:lnTo>
                    <a:cubicBezTo>
                      <a:pt x="0" y="32190"/>
                      <a:pt x="32190" y="0"/>
                      <a:pt x="71899" y="0"/>
                    </a:cubicBezTo>
                    <a:close/>
                  </a:path>
                </a:pathLst>
              </a:custGeom>
              <a:solidFill>
                <a:srgbClr val="FBFC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43798" cy="5898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2129171" y="3915590"/>
            <a:ext cx="3450189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altLang="ko-KR" sz="2602" b="1" spc="-52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I/O </a:t>
            </a:r>
            <a:r>
              <a:rPr lang="ko-KR" altLang="en-US" sz="2602" b="1" spc="-52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명령어 디코딩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19800" y="5714152"/>
            <a:ext cx="3450189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ko-KR" altLang="en-US" sz="2602" b="1" spc="-52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장치 식별 및 할당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728413" y="7499944"/>
            <a:ext cx="3450189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ko-KR" altLang="en-US" sz="2602" b="1" spc="-52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및 신호 전달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29171" y="4621661"/>
            <a:ext cx="6353344" cy="672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T3 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사이클에서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Opcode 7 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및 간접 주소 지정 비트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(I=1)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조합을 해독하여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I/O 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제어 명령어를 판별</a:t>
            </a:r>
            <a:endParaRPr lang="en-US" altLang="ko-KR" sz="1899" spc="-37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019800" y="6420223"/>
            <a:ext cx="7146040" cy="672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명령어 하위 비트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(IR[11:0])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식별 코드로 사용</a:t>
            </a:r>
            <a:endParaRPr lang="en-US" altLang="ko-KR" sz="1899" spc="-37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659"/>
              </a:lnSpc>
            </a:pP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UART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는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h001, 7-Segment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는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h002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지정한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절대 주소를 매핑</a:t>
            </a:r>
            <a:endParaRPr lang="en-US" altLang="ko-KR" sz="1899" spc="-37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728413" y="8206016"/>
            <a:ext cx="6353344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전송할 데이터는 누산기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(AC) 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값을 통해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io_wdata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출력되며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io_req 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신호를 </a:t>
            </a:r>
            <a:r>
              <a:rPr lang="en-US" altLang="ko-KR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High</a:t>
            </a:r>
            <a:r>
              <a:rPr lang="ko-KR" altLang="en-US" sz="1899" spc="-37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활성화하여 트랜잭션을 시작</a:t>
            </a:r>
            <a:endParaRPr lang="en-US" altLang="ko-KR" sz="1899" spc="-37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870B-B3C0-61AB-4D44-A22EBA70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2853EB-1B4E-331D-8123-F638F1BF65F9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A94E3A-138A-CA99-0E19-24F0E023F3D4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04B6767-A3A5-FCF8-78C8-3660C2A71294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6865E590-C164-748A-B638-A7C79BF44BAE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86D44A5C-6382-E957-E6E1-AA0C097F8E6F}"/>
              </a:ext>
            </a:extLst>
          </p:cNvPr>
          <p:cNvGrpSpPr/>
          <p:nvPr/>
        </p:nvGrpSpPr>
        <p:grpSpPr>
          <a:xfrm>
            <a:off x="3101520" y="4050691"/>
            <a:ext cx="3464913" cy="740304"/>
            <a:chOff x="0" y="0"/>
            <a:chExt cx="641784" cy="13712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625D2E4-069E-470B-D6C3-AC50B1E28EB1}"/>
                </a:ext>
              </a:extLst>
            </p:cNvPr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D64755B-33F5-DAED-B750-1893666234E6}"/>
                </a:ext>
              </a:extLst>
            </p:cNvPr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8613D3B-EA01-90B9-D2D4-F236CB58B1C9}"/>
              </a:ext>
            </a:extLst>
          </p:cNvPr>
          <p:cNvGrpSpPr/>
          <p:nvPr/>
        </p:nvGrpSpPr>
        <p:grpSpPr>
          <a:xfrm>
            <a:off x="11727934" y="4050691"/>
            <a:ext cx="3464913" cy="740304"/>
            <a:chOff x="0" y="0"/>
            <a:chExt cx="641784" cy="13712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C77BCDB-DE36-5D5B-CDDB-BCDE61B8324A}"/>
                </a:ext>
              </a:extLst>
            </p:cNvPr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F6293BB-1429-367F-4B2D-00B475CFD76B}"/>
                </a:ext>
              </a:extLst>
            </p:cNvPr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AutoShape 31">
            <a:extLst>
              <a:ext uri="{FF2B5EF4-FFF2-40B4-BE49-F238E27FC236}">
                <a16:creationId xmlns:a16="http://schemas.microsoft.com/office/drawing/2014/main" id="{AC096829-D2C4-E16D-203B-1DBD2932EDC8}"/>
              </a:ext>
            </a:extLst>
          </p:cNvPr>
          <p:cNvSpPr/>
          <p:nvPr/>
        </p:nvSpPr>
        <p:spPr>
          <a:xfrm flipV="1">
            <a:off x="9147183" y="3689647"/>
            <a:ext cx="0" cy="3281529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34F8F65-5687-D425-70EF-1FC4FD70C809}"/>
              </a:ext>
            </a:extLst>
          </p:cNvPr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Interface </a:t>
            </a:r>
            <a:r>
              <a:rPr lang="ko-KR" altLang="en-US" sz="6579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579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20BAF6D4-9EA5-1B5E-F3D8-1EA8C52489EB}"/>
              </a:ext>
            </a:extLst>
          </p:cNvPr>
          <p:cNvSpPr txBox="1"/>
          <p:nvPr/>
        </p:nvSpPr>
        <p:spPr>
          <a:xfrm>
            <a:off x="2190898" y="5330412"/>
            <a:ext cx="528615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altLang="ko-KR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AMBA AXI </a:t>
            </a:r>
            <a:r>
              <a:rPr lang="ko-KR" alt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프로토콜의 핵심인</a:t>
            </a:r>
            <a:endParaRPr lang="en-US" altLang="ko-KR" sz="24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75"/>
              </a:lnSpc>
            </a:pPr>
            <a:r>
              <a:rPr lang="en-US" altLang="ko-KR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Valid/Ready </a:t>
            </a:r>
            <a:r>
              <a:rPr lang="ko-KR" alt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핸드셰이크 구조</a:t>
            </a:r>
            <a:endParaRPr lang="en-US" sz="24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D4E3EA6E-CBB1-A78B-6A7F-80F9DA59076A}"/>
              </a:ext>
            </a:extLst>
          </p:cNvPr>
          <p:cNvSpPr txBox="1"/>
          <p:nvPr/>
        </p:nvSpPr>
        <p:spPr>
          <a:xfrm>
            <a:off x="10817312" y="5330412"/>
            <a:ext cx="528615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16</a:t>
            </a:r>
            <a:r>
              <a:rPr lang="ko-KR" alt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비트 </a:t>
            </a:r>
            <a:r>
              <a:rPr lang="en-US" altLang="ko-KR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와 </a:t>
            </a:r>
            <a:r>
              <a:rPr lang="en-US" altLang="ko-KR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32</a:t>
            </a:r>
            <a:r>
              <a:rPr lang="ko-KR" alt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비트 버스 간 </a:t>
            </a:r>
            <a:endParaRPr lang="en-US" altLang="ko-KR" sz="24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75"/>
              </a:lnSpc>
            </a:pPr>
            <a:r>
              <a:rPr lang="ko-KR" altLang="en-US" sz="2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통신을 위한 주소 변환</a:t>
            </a:r>
            <a:endParaRPr lang="en-US" sz="24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CFCC00E9-D440-5C42-C599-C8E3C1075FFC}"/>
              </a:ext>
            </a:extLst>
          </p:cNvPr>
          <p:cNvSpPr txBox="1"/>
          <p:nvPr/>
        </p:nvSpPr>
        <p:spPr>
          <a:xfrm>
            <a:off x="3038618" y="4176571"/>
            <a:ext cx="3450189" cy="43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400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Handshake </a:t>
            </a:r>
            <a:r>
              <a:rPr lang="ko-KR" altLang="en-US" sz="2400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구조</a:t>
            </a:r>
            <a:endParaRPr lang="en-US" sz="2400" b="1" spc="-52">
              <a:solidFill>
                <a:srgbClr val="FBFCF8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44D7E34F-A534-9AE3-1A8B-3ED23D0D5AAB}"/>
              </a:ext>
            </a:extLst>
          </p:cNvPr>
          <p:cNvSpPr txBox="1"/>
          <p:nvPr/>
        </p:nvSpPr>
        <p:spPr>
          <a:xfrm>
            <a:off x="11739621" y="4176571"/>
            <a:ext cx="3450189" cy="44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Cpu </a:t>
            </a:r>
            <a:r>
              <a:rPr lang="ko-KR" altLang="en-US" sz="2602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주소 변환</a:t>
            </a:r>
            <a:endParaRPr lang="en-US" sz="2602" b="1" spc="-52">
              <a:solidFill>
                <a:srgbClr val="FBFCF8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94976B81-43E8-8896-02B3-C8FBF2E6E812}"/>
              </a:ext>
            </a:extLst>
          </p:cNvPr>
          <p:cNvSpPr/>
          <p:nvPr/>
        </p:nvSpPr>
        <p:spPr>
          <a:xfrm flipV="1">
            <a:off x="1354354" y="7429500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17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467334" y="6272802"/>
            <a:ext cx="15614423" cy="3137898"/>
            <a:chOff x="0" y="0"/>
            <a:chExt cx="4112441" cy="3219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2440" cy="321993"/>
            </a:xfrm>
            <a:custGeom>
              <a:avLst/>
              <a:gdLst/>
              <a:ahLst/>
              <a:cxnLst/>
              <a:rect l="l" t="t" r="r" b="b"/>
              <a:pathLst>
                <a:path w="4112440" h="321993">
                  <a:moveTo>
                    <a:pt x="5454" y="0"/>
                  </a:moveTo>
                  <a:lnTo>
                    <a:pt x="4106987" y="0"/>
                  </a:lnTo>
                  <a:cubicBezTo>
                    <a:pt x="4109999" y="0"/>
                    <a:pt x="4112440" y="2442"/>
                    <a:pt x="4112440" y="5454"/>
                  </a:cubicBezTo>
                  <a:lnTo>
                    <a:pt x="4112440" y="316539"/>
                  </a:lnTo>
                  <a:cubicBezTo>
                    <a:pt x="4112440" y="319551"/>
                    <a:pt x="4109999" y="321993"/>
                    <a:pt x="4106987" y="321993"/>
                  </a:cubicBezTo>
                  <a:lnTo>
                    <a:pt x="5454" y="321993"/>
                  </a:lnTo>
                  <a:cubicBezTo>
                    <a:pt x="2442" y="321993"/>
                    <a:pt x="0" y="319551"/>
                    <a:pt x="0" y="316539"/>
                  </a:cubicBezTo>
                  <a:lnTo>
                    <a:pt x="0" y="5454"/>
                  </a:lnTo>
                  <a:cubicBezTo>
                    <a:pt x="0" y="2442"/>
                    <a:pt x="2442" y="0"/>
                    <a:pt x="5454" y="0"/>
                  </a:cubicBezTo>
                  <a:close/>
                </a:path>
              </a:pathLst>
            </a:custGeom>
            <a:solidFill>
              <a:srgbClr val="EFEFE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112441" cy="36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en-US" altLang="ko-KR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</a:t>
            </a: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버스 핸드셰이크 규격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87887" y="7923541"/>
            <a:ext cx="651162" cy="695416"/>
          </a:xfrm>
          <a:custGeom>
            <a:avLst/>
            <a:gdLst/>
            <a:ahLst/>
            <a:cxnLst/>
            <a:rect l="l" t="t" r="r" b="b"/>
            <a:pathLst>
              <a:path w="651162" h="695416">
                <a:moveTo>
                  <a:pt x="0" y="0"/>
                </a:moveTo>
                <a:lnTo>
                  <a:pt x="651163" y="0"/>
                </a:lnTo>
                <a:lnTo>
                  <a:pt x="651163" y="695416"/>
                </a:lnTo>
                <a:lnTo>
                  <a:pt x="0" y="695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606146" y="3929271"/>
            <a:ext cx="15368205" cy="212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Valid: </a:t>
            </a:r>
            <a:r>
              <a:rPr lang="ko-KR" altLang="en-US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송신측이 주소나 데이터 등 유효한 정보를 버스에 완벽히 준비했음을 알립니다</a:t>
            </a: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algn="just">
              <a:lnSpc>
                <a:spcPts val="2775"/>
              </a:lnSpc>
            </a:pPr>
            <a:endParaRPr lang="en-US" altLang="ko-KR" sz="28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Ready: </a:t>
            </a:r>
            <a:r>
              <a:rPr lang="ko-KR" altLang="en-US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수신측이 해당 데이터를 안전하게 받아들일 준비가 완료되었음을 응답합니다</a:t>
            </a: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algn="just">
              <a:lnSpc>
                <a:spcPts val="2775"/>
              </a:lnSpc>
            </a:pPr>
            <a:endParaRPr lang="en-US" altLang="ko-KR" sz="28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2775"/>
              </a:lnSpc>
            </a:pPr>
            <a:r>
              <a:rPr lang="ko-KR" altLang="en-US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두 신호가 모두 </a:t>
            </a: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High</a:t>
            </a:r>
            <a:r>
              <a:rPr lang="ko-KR" altLang="en-US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일 때</a:t>
            </a: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시스템 클럭의 상승 에지에 동기화되어 트랜잭션이 성공적으로 완료됩니다</a:t>
            </a:r>
            <a:r>
              <a:rPr lang="en-US" altLang="ko-KR" sz="28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algn="just">
              <a:lnSpc>
                <a:spcPts val="2775"/>
              </a:lnSpc>
            </a:pPr>
            <a:endParaRPr lang="en-US" altLang="ko-KR" sz="1779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07AB4C2-BE4F-49FF-5E50-B495E57A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6705980"/>
            <a:ext cx="11970961" cy="1925677"/>
          </a:xfrm>
          <a:prstGeom prst="rect">
            <a:avLst/>
          </a:prstGeom>
        </p:spPr>
      </p:pic>
      <p:sp>
        <p:nvSpPr>
          <p:cNvPr id="22" name="TextBox 20">
            <a:extLst>
              <a:ext uri="{FF2B5EF4-FFF2-40B4-BE49-F238E27FC236}">
                <a16:creationId xmlns:a16="http://schemas.microsoft.com/office/drawing/2014/main" id="{5BF91A20-E034-1713-CE1C-65FD84637620}"/>
              </a:ext>
            </a:extLst>
          </p:cNvPr>
          <p:cNvSpPr txBox="1"/>
          <p:nvPr/>
        </p:nvSpPr>
        <p:spPr>
          <a:xfrm>
            <a:off x="1467330" y="8799904"/>
            <a:ext cx="15368205" cy="33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읽기 주소 </a:t>
            </a:r>
            <a:r>
              <a:rPr lang="en-US" altLang="ko-KR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handshake</a:t>
            </a:r>
            <a:endParaRPr lang="en-US" altLang="ko-KR" sz="14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9">
            <a:extLst>
              <a:ext uri="{FF2B5EF4-FFF2-40B4-BE49-F238E27FC236}">
                <a16:creationId xmlns:a16="http://schemas.microsoft.com/office/drawing/2014/main" id="{6A363D12-8075-7543-BCDA-F01F8BD7A597}"/>
              </a:ext>
            </a:extLst>
          </p:cNvPr>
          <p:cNvGrpSpPr/>
          <p:nvPr/>
        </p:nvGrpSpPr>
        <p:grpSpPr>
          <a:xfrm>
            <a:off x="1066845" y="4766013"/>
            <a:ext cx="6212577" cy="4797087"/>
            <a:chOff x="0" y="0"/>
            <a:chExt cx="4112441" cy="321993"/>
          </a:xfrm>
        </p:grpSpPr>
        <p:sp>
          <p:nvSpPr>
            <p:cNvPr id="61" name="Freeform 10">
              <a:extLst>
                <a:ext uri="{FF2B5EF4-FFF2-40B4-BE49-F238E27FC236}">
                  <a16:creationId xmlns:a16="http://schemas.microsoft.com/office/drawing/2014/main" id="{D79C3236-D8BE-6CD7-1442-6628AE019F37}"/>
                </a:ext>
              </a:extLst>
            </p:cNvPr>
            <p:cNvSpPr/>
            <p:nvPr/>
          </p:nvSpPr>
          <p:spPr>
            <a:xfrm>
              <a:off x="0" y="0"/>
              <a:ext cx="4112440" cy="321993"/>
            </a:xfrm>
            <a:custGeom>
              <a:avLst/>
              <a:gdLst/>
              <a:ahLst/>
              <a:cxnLst/>
              <a:rect l="l" t="t" r="r" b="b"/>
              <a:pathLst>
                <a:path w="4112440" h="321993">
                  <a:moveTo>
                    <a:pt x="5454" y="0"/>
                  </a:moveTo>
                  <a:lnTo>
                    <a:pt x="4106987" y="0"/>
                  </a:lnTo>
                  <a:cubicBezTo>
                    <a:pt x="4109999" y="0"/>
                    <a:pt x="4112440" y="2442"/>
                    <a:pt x="4112440" y="5454"/>
                  </a:cubicBezTo>
                  <a:lnTo>
                    <a:pt x="4112440" y="316539"/>
                  </a:lnTo>
                  <a:cubicBezTo>
                    <a:pt x="4112440" y="319551"/>
                    <a:pt x="4109999" y="321993"/>
                    <a:pt x="4106987" y="321993"/>
                  </a:cubicBezTo>
                  <a:lnTo>
                    <a:pt x="5454" y="321993"/>
                  </a:lnTo>
                  <a:cubicBezTo>
                    <a:pt x="2442" y="321993"/>
                    <a:pt x="0" y="319551"/>
                    <a:pt x="0" y="316539"/>
                  </a:cubicBezTo>
                  <a:lnTo>
                    <a:pt x="0" y="5454"/>
                  </a:lnTo>
                  <a:cubicBezTo>
                    <a:pt x="0" y="2442"/>
                    <a:pt x="2442" y="0"/>
                    <a:pt x="5454" y="0"/>
                  </a:cubicBezTo>
                  <a:close/>
                </a:path>
              </a:pathLst>
            </a:custGeom>
            <a:solidFill>
              <a:srgbClr val="EFEFE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11">
              <a:extLst>
                <a:ext uri="{FF2B5EF4-FFF2-40B4-BE49-F238E27FC236}">
                  <a16:creationId xmlns:a16="http://schemas.microsoft.com/office/drawing/2014/main" id="{BE16759C-B243-96D9-86D8-8829D49E9F7B}"/>
                </a:ext>
              </a:extLst>
            </p:cNvPr>
            <p:cNvSpPr txBox="1"/>
            <p:nvPr/>
          </p:nvSpPr>
          <p:spPr>
            <a:xfrm>
              <a:off x="0" y="-47625"/>
              <a:ext cx="4112441" cy="369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51379" y="2232660"/>
            <a:ext cx="4030221" cy="229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altLang="ko-KR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Interface </a:t>
            </a:r>
          </a:p>
          <a:p>
            <a:pPr algn="l">
              <a:lnSpc>
                <a:spcPts val="9211"/>
              </a:lnSpc>
            </a:pP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주소 변환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099726" y="1600599"/>
            <a:ext cx="9036895" cy="1264122"/>
            <a:chOff x="0" y="0"/>
            <a:chExt cx="1673847" cy="2341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38542" y="8052379"/>
            <a:ext cx="9036895" cy="1264122"/>
            <a:chOff x="0" y="0"/>
            <a:chExt cx="1673847" cy="2341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38542" y="3220358"/>
            <a:ext cx="9036895" cy="1264122"/>
            <a:chOff x="0" y="0"/>
            <a:chExt cx="1673847" cy="23414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99726" y="6421142"/>
            <a:ext cx="9036895" cy="1264122"/>
            <a:chOff x="0" y="0"/>
            <a:chExt cx="1673847" cy="2341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879292" y="2014042"/>
            <a:ext cx="2394474" cy="43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Read Address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2"/>
              <p:cNvSpPr txBox="1"/>
              <p:nvPr/>
            </p:nvSpPr>
            <p:spPr>
              <a:xfrm>
                <a:off x="12095374" y="1803397"/>
                <a:ext cx="4753499" cy="7868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220"/>
                  </a:lnSpc>
                </a:pPr>
                <a:r>
                  <a:rPr lang="en-US" altLang="ko-KR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32</a:t>
                </a:r>
                <a:r>
                  <a:rPr lang="ko-KR" altLang="en-US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비트 주소를 </a:t>
                </a:r>
                <a:r>
                  <a:rPr lang="en-US" altLang="ko-KR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12</a:t>
                </a:r>
                <a:r>
                  <a:rPr lang="ko-KR" altLang="en-US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비트로 변환하여 입력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</m:ctrlPr>
                      </m:sSupPr>
                      <m:e>
                        <m: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  <m:t>32</m:t>
                        </m:r>
                      </m:e>
                      <m:sup>
                        <m: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  <m:t>′</m:t>
                        </m:r>
                      </m:sup>
                    </m:sSup>
                    <m:r>
                      <a:rPr lang="ko-KR" altLang="en-US" sz="2000" i="1" spc="-46">
                        <a:solidFill>
                          <a:srgbClr val="24485E"/>
                        </a:solidFill>
                        <a:latin typeface="Cambria Math" panose="02040503050406030204" pitchFamily="18" charset="0"/>
                        <a:ea typeface="TDTD순고딕"/>
                        <a:sym typeface="TDTD순고딕"/>
                      </a:rPr>
                      <m:t>ℎ</m:t>
                    </m:r>
                    <m:r>
                      <a:rPr lang="ko-KR" altLang="en-US" sz="2000" i="1" spc="-46">
                        <a:solidFill>
                          <a:srgbClr val="24485E"/>
                        </a:solidFill>
                        <a:latin typeface="Cambria Math" panose="02040503050406030204" pitchFamily="18" charset="0"/>
                        <a:ea typeface="TDTD순고딕"/>
                        <a:sym typeface="TDTD순고딕"/>
                      </a:rPr>
                      <m:t>4000</m:t>
                    </m:r>
                    <m:r>
                      <m:rPr>
                        <m:lit/>
                      </m:rPr>
                      <a:rPr lang="ko-KR" altLang="en-US" sz="2000" i="1" spc="-46">
                        <a:solidFill>
                          <a:srgbClr val="24485E"/>
                        </a:solidFill>
                        <a:latin typeface="Cambria Math" panose="02040503050406030204" pitchFamily="18" charset="0"/>
                        <a:ea typeface="TDTD순고딕"/>
                        <a:sym typeface="TDTD순고딕"/>
                      </a:rPr>
                      <m:t>_</m:t>
                    </m:r>
                    <m:r>
                      <a:rPr lang="ko-KR" altLang="en-US" sz="2000" i="1" spc="-46">
                        <a:solidFill>
                          <a:srgbClr val="24485E"/>
                        </a:solidFill>
                        <a:latin typeface="Cambria Math" panose="02040503050406030204" pitchFamily="18" charset="0"/>
                        <a:ea typeface="TDTD순고딕"/>
                        <a:sym typeface="TDTD순고딕"/>
                      </a:rPr>
                      <m:t>0000+</m:t>
                    </m:r>
                    <m:d>
                      <m:dPr>
                        <m:ctrlP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</m:ctrlPr>
                      </m:dPr>
                      <m:e>
                        <m: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  <m:t>𝑚𝑒𝑚</m:t>
                        </m:r>
                        <m:r>
                          <m:rPr>
                            <m:lit/>
                          </m:rP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  <m:t>_</m:t>
                        </m:r>
                        <m: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  <m:t>𝑎𝑑𝑑𝑟</m:t>
                        </m:r>
                        <m:r>
                          <a:rPr lang="ko-KR" altLang="en-US" sz="2000" i="1" spc="-46">
                            <a:solidFill>
                              <a:srgbClr val="24485E"/>
                            </a:solidFill>
                            <a:latin typeface="Cambria Math" panose="02040503050406030204" pitchFamily="18" charset="0"/>
                            <a:ea typeface="TDTD순고딕"/>
                            <a:sym typeface="TDTD순고딕"/>
                          </a:rPr>
                          <m:t>≪2</m:t>
                        </m:r>
                      </m:e>
                    </m:d>
                  </m:oMath>
                </a14:m>
                <a:endParaRPr lang="en-US" sz="2000" spc="-46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endParaRPr>
              </a:p>
            </p:txBody>
          </p:sp>
        </mc:Choice>
        <mc:Fallback xmlns="">
          <p:sp>
            <p:nvSpPr>
              <p:cNvPr id="32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5374" y="1803397"/>
                <a:ext cx="4753499" cy="786818"/>
              </a:xfrm>
              <a:prstGeom prst="rect">
                <a:avLst/>
              </a:prstGeom>
              <a:blipFill>
                <a:blip r:embed="rId2"/>
                <a:stretch>
                  <a:fillRect l="-3205" t="-1550"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3"/>
          <p:cNvSpPr txBox="1"/>
          <p:nvPr/>
        </p:nvSpPr>
        <p:spPr>
          <a:xfrm>
            <a:off x="12121928" y="3438031"/>
            <a:ext cx="4088650" cy="79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하위 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16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비트만 잘라 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CPU(mem_rdata)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 전송</a:t>
            </a:r>
            <a:endParaRPr lang="en-US" sz="23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247396" y="8438089"/>
            <a:ext cx="4088650" cy="388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쓰기 작업의 성공 여부 응답 반환</a:t>
            </a:r>
            <a:endParaRPr lang="en-US" sz="23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118300" y="6670896"/>
            <a:ext cx="4088650" cy="798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16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비트 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 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데이터를 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32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비트 폭으로 확장하여 전송</a:t>
            </a:r>
            <a:endParaRPr lang="en-US" sz="23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000372" y="3606661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Read Data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45732" y="8438089"/>
            <a:ext cx="2394474" cy="449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Write Response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03000" y="6790309"/>
            <a:ext cx="2394474" cy="449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Write Data</a:t>
            </a:r>
          </a:p>
        </p:txBody>
      </p:sp>
      <p:sp>
        <p:nvSpPr>
          <p:cNvPr id="41" name="AutoShape 41"/>
          <p:cNvSpPr/>
          <p:nvPr/>
        </p:nvSpPr>
        <p:spPr>
          <a:xfrm flipV="1">
            <a:off x="11807626" y="3502231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AutoShape 42"/>
          <p:cNvSpPr/>
          <p:nvPr/>
        </p:nvSpPr>
        <p:spPr>
          <a:xfrm flipV="1">
            <a:off x="11746442" y="8354568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AutoShape 43"/>
          <p:cNvSpPr/>
          <p:nvPr/>
        </p:nvSpPr>
        <p:spPr>
          <a:xfrm flipV="1">
            <a:off x="11807626" y="6705779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AutoShape 45"/>
          <p:cNvSpPr/>
          <p:nvPr/>
        </p:nvSpPr>
        <p:spPr>
          <a:xfrm flipV="1">
            <a:off x="11807626" y="1907237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3" name="Group 10">
            <a:extLst>
              <a:ext uri="{FF2B5EF4-FFF2-40B4-BE49-F238E27FC236}">
                <a16:creationId xmlns:a16="http://schemas.microsoft.com/office/drawing/2014/main" id="{53C4A240-71CC-5647-7216-530B17660A84}"/>
              </a:ext>
            </a:extLst>
          </p:cNvPr>
          <p:cNvGrpSpPr/>
          <p:nvPr/>
        </p:nvGrpSpPr>
        <p:grpSpPr>
          <a:xfrm>
            <a:off x="8038542" y="4827568"/>
            <a:ext cx="9036895" cy="1264122"/>
            <a:chOff x="0" y="0"/>
            <a:chExt cx="1673847" cy="234145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36900D95-E00E-D923-CFD4-361F7E2FC688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Box 12">
              <a:extLst>
                <a:ext uri="{FF2B5EF4-FFF2-40B4-BE49-F238E27FC236}">
                  <a16:creationId xmlns:a16="http://schemas.microsoft.com/office/drawing/2014/main" id="{BC0EF6FF-38B6-8C03-226C-28B5C3415712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6" name="TextBox 31">
            <a:extLst>
              <a:ext uri="{FF2B5EF4-FFF2-40B4-BE49-F238E27FC236}">
                <a16:creationId xmlns:a16="http://schemas.microsoft.com/office/drawing/2014/main" id="{C5AD9D09-6BFA-389C-1EF1-E056608019A3}"/>
              </a:ext>
            </a:extLst>
          </p:cNvPr>
          <p:cNvSpPr txBox="1"/>
          <p:nvPr/>
        </p:nvSpPr>
        <p:spPr>
          <a:xfrm>
            <a:off x="8806208" y="5241011"/>
            <a:ext cx="2394474" cy="43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Write Address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32">
                <a:extLst>
                  <a:ext uri="{FF2B5EF4-FFF2-40B4-BE49-F238E27FC236}">
                    <a16:creationId xmlns:a16="http://schemas.microsoft.com/office/drawing/2014/main" id="{C6AFD619-7B06-FAB3-D901-33AB0748F29F}"/>
                  </a:ext>
                </a:extLst>
              </p:cNvPr>
              <p:cNvSpPr txBox="1"/>
              <p:nvPr/>
            </p:nvSpPr>
            <p:spPr>
              <a:xfrm>
                <a:off x="11959804" y="5033146"/>
                <a:ext cx="4829700" cy="8207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220"/>
                  </a:lnSpc>
                </a:pPr>
                <a:r>
                  <a:rPr lang="en-US" altLang="ko-KR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CPU</a:t>
                </a:r>
                <a:r>
                  <a:rPr lang="ko-KR" altLang="en-US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의 </a:t>
                </a:r>
                <a:r>
                  <a:rPr lang="en-US" altLang="ko-KR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12</a:t>
                </a:r>
                <a:r>
                  <a:rPr lang="ko-KR" altLang="en-US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비트 주소를 </a:t>
                </a:r>
                <a:r>
                  <a:rPr lang="en-US" altLang="ko-KR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32</a:t>
                </a:r>
                <a:r>
                  <a:rPr lang="ko-KR" altLang="en-US" sz="2000" spc="-46">
                    <a:solidFill>
                      <a:srgbClr val="24485E"/>
                    </a:solidFill>
                    <a:latin typeface="TDTD순고딕"/>
                    <a:ea typeface="TDTD순고딕"/>
                    <a:cs typeface="TDTD순고딕"/>
                    <a:sym typeface="TDTD순고딕"/>
                  </a:rPr>
                  <a:t>비트 주소로 변환</a:t>
                </a:r>
                <a:endParaRPr lang="en-US" altLang="ko-KR" sz="2000" spc="-46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endParaRPr>
              </a:p>
              <a:p>
                <a:pPr>
                  <a:lnSpc>
                    <a:spcPts val="3220"/>
                  </a:lnSpc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</m:ctrlPr>
                        </m:sSupPr>
                        <m:e>
                          <m: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  <m:t>32</m:t>
                          </m:r>
                        </m:e>
                        <m:sup>
                          <m: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  <m:t>′</m:t>
                          </m:r>
                        </m:sup>
                      </m:sSup>
                      <m:r>
                        <a:rPr lang="ko-KR" altLang="en-US" sz="2000" i="1" spc="-46">
                          <a:solidFill>
                            <a:srgbClr val="24485E"/>
                          </a:solidFill>
                          <a:latin typeface="Cambria Math" panose="02040503050406030204" pitchFamily="18" charset="0"/>
                          <a:ea typeface="TDTD순고딕"/>
                          <a:sym typeface="TDTD순고딕"/>
                        </a:rPr>
                        <m:t>ℎ</m:t>
                      </m:r>
                      <m:r>
                        <a:rPr lang="ko-KR" altLang="en-US" sz="2000" i="1" spc="-46">
                          <a:solidFill>
                            <a:srgbClr val="24485E"/>
                          </a:solidFill>
                          <a:latin typeface="Cambria Math" panose="02040503050406030204" pitchFamily="18" charset="0"/>
                          <a:ea typeface="TDTD순고딕"/>
                          <a:sym typeface="TDTD순고딕"/>
                        </a:rPr>
                        <m:t>4000</m:t>
                      </m:r>
                      <m:r>
                        <m:rPr>
                          <m:lit/>
                        </m:rPr>
                        <a:rPr lang="ko-KR" altLang="en-US" sz="2000" i="1" spc="-46">
                          <a:solidFill>
                            <a:srgbClr val="24485E"/>
                          </a:solidFill>
                          <a:latin typeface="Cambria Math" panose="02040503050406030204" pitchFamily="18" charset="0"/>
                          <a:ea typeface="TDTD순고딕"/>
                          <a:sym typeface="TDTD순고딕"/>
                        </a:rPr>
                        <m:t>_</m:t>
                      </m:r>
                      <m:r>
                        <a:rPr lang="ko-KR" altLang="en-US" sz="2000" i="1" spc="-46">
                          <a:solidFill>
                            <a:srgbClr val="24485E"/>
                          </a:solidFill>
                          <a:latin typeface="Cambria Math" panose="02040503050406030204" pitchFamily="18" charset="0"/>
                          <a:ea typeface="TDTD순고딕"/>
                          <a:sym typeface="TDTD순고딕"/>
                        </a:rPr>
                        <m:t>0000+</m:t>
                      </m:r>
                      <m:d>
                        <m:dPr>
                          <m:ctrlP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</m:ctrlPr>
                        </m:dPr>
                        <m:e>
                          <m: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  <m:t>𝑚𝑒𝑚</m:t>
                          </m:r>
                          <m:r>
                            <m:rPr>
                              <m:lit/>
                            </m:rP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  <m:t>_</m:t>
                          </m:r>
                          <m: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  <m:t>𝑎𝑑𝑑𝑟</m:t>
                          </m:r>
                          <m:r>
                            <a:rPr lang="ko-KR" altLang="en-US" sz="2000" i="1" spc="-46">
                              <a:solidFill>
                                <a:srgbClr val="24485E"/>
                              </a:solidFill>
                              <a:latin typeface="Cambria Math" panose="02040503050406030204" pitchFamily="18" charset="0"/>
                              <a:ea typeface="TDTD순고딕"/>
                              <a:sym typeface="TDTD순고딕"/>
                            </a:rPr>
                            <m:t>≪2</m:t>
                          </m:r>
                        </m:e>
                      </m:d>
                    </m:oMath>
                  </m:oMathPara>
                </a14:m>
                <a:endParaRPr lang="en-US" altLang="ko-KR" sz="2000" spc="-46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endParaRPr>
              </a:p>
            </p:txBody>
          </p:sp>
        </mc:Choice>
        <mc:Fallback xmlns="">
          <p:sp>
            <p:nvSpPr>
              <p:cNvPr id="57" name="TextBox 32">
                <a:extLst>
                  <a:ext uri="{FF2B5EF4-FFF2-40B4-BE49-F238E27FC236}">
                    <a16:creationId xmlns:a16="http://schemas.microsoft.com/office/drawing/2014/main" id="{C6AFD619-7B06-FAB3-D901-33AB0748F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9804" y="5033146"/>
                <a:ext cx="4829700" cy="820738"/>
              </a:xfrm>
              <a:prstGeom prst="rect">
                <a:avLst/>
              </a:prstGeom>
              <a:blipFill>
                <a:blip r:embed="rId3"/>
                <a:stretch>
                  <a:fillRect l="-3283" t="-14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AutoShape 45">
            <a:extLst>
              <a:ext uri="{FF2B5EF4-FFF2-40B4-BE49-F238E27FC236}">
                <a16:creationId xmlns:a16="http://schemas.microsoft.com/office/drawing/2014/main" id="{42A8E193-18ED-2344-52A1-1F59C3440757}"/>
              </a:ext>
            </a:extLst>
          </p:cNvPr>
          <p:cNvSpPr/>
          <p:nvPr/>
        </p:nvSpPr>
        <p:spPr>
          <a:xfrm flipV="1">
            <a:off x="11746442" y="5134206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그림 58" descr="IP 설계] AXI4-Lite Interface 란?">
            <a:extLst>
              <a:ext uri="{FF2B5EF4-FFF2-40B4-BE49-F238E27FC236}">
                <a16:creationId xmlns:a16="http://schemas.microsoft.com/office/drawing/2014/main" id="{529A4860-F775-19D6-7A6E-2008AF6CE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502" y="4923493"/>
            <a:ext cx="4705836" cy="4011164"/>
          </a:xfrm>
          <a:prstGeom prst="rect">
            <a:avLst/>
          </a:prstGeom>
        </p:spPr>
      </p:pic>
      <p:sp>
        <p:nvSpPr>
          <p:cNvPr id="63" name="TextBox 20">
            <a:extLst>
              <a:ext uri="{FF2B5EF4-FFF2-40B4-BE49-F238E27FC236}">
                <a16:creationId xmlns:a16="http://schemas.microsoft.com/office/drawing/2014/main" id="{093A4CF2-899B-4664-F207-824F626EC92D}"/>
              </a:ext>
            </a:extLst>
          </p:cNvPr>
          <p:cNvSpPr txBox="1"/>
          <p:nvPr/>
        </p:nvSpPr>
        <p:spPr>
          <a:xfrm>
            <a:off x="376953" y="9115723"/>
            <a:ext cx="7224934" cy="318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altLang="ko-KR" sz="1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Master &amp; Slave </a:t>
            </a:r>
            <a:r>
              <a:rPr lang="ko-KR" altLang="en-US" sz="14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</a:t>
            </a:r>
            <a:endParaRPr lang="en-US" altLang="ko-KR" sz="14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D4CE83C3-8F34-8D6D-0DC5-028D8AA6A044}"/>
              </a:ext>
            </a:extLst>
          </p:cNvPr>
          <p:cNvSpPr/>
          <p:nvPr/>
        </p:nvSpPr>
        <p:spPr>
          <a:xfrm>
            <a:off x="17358408" y="9352143"/>
            <a:ext cx="390836" cy="360666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4098" y="768158"/>
            <a:ext cx="16914306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altLang="ko-KR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기반 </a:t>
            </a:r>
            <a:r>
              <a:rPr lang="en-US" altLang="ko-KR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Slave Controller 3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가지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371600" y="2935347"/>
            <a:ext cx="14020800" cy="1264122"/>
            <a:chOff x="0" y="0"/>
            <a:chExt cx="1673847" cy="2341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799903" y="3371577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0"/>
                </a:lnTo>
                <a:lnTo>
                  <a:pt x="0" y="39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4635235" y="3400394"/>
            <a:ext cx="9093731" cy="388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Read/Write 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명령을 수행하고 메모리를 제어</a:t>
            </a:r>
            <a:endParaRPr lang="en-US" sz="23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485477" y="3343311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Memory</a:t>
            </a:r>
          </a:p>
        </p:txBody>
      </p:sp>
      <p:sp>
        <p:nvSpPr>
          <p:cNvPr id="42" name="AutoShape 42"/>
          <p:cNvSpPr/>
          <p:nvPr/>
        </p:nvSpPr>
        <p:spPr>
          <a:xfrm flipV="1">
            <a:off x="4191000" y="3230396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A1655617-1F41-26AD-4122-05FF5D2FF05F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7" name="Group 13">
            <a:extLst>
              <a:ext uri="{FF2B5EF4-FFF2-40B4-BE49-F238E27FC236}">
                <a16:creationId xmlns:a16="http://schemas.microsoft.com/office/drawing/2014/main" id="{1D1AD399-DD35-D9FB-F8BF-9F3B4FDE8E99}"/>
              </a:ext>
            </a:extLst>
          </p:cNvPr>
          <p:cNvGrpSpPr/>
          <p:nvPr/>
        </p:nvGrpSpPr>
        <p:grpSpPr>
          <a:xfrm>
            <a:off x="1371600" y="5059602"/>
            <a:ext cx="14020800" cy="1264122"/>
            <a:chOff x="0" y="0"/>
            <a:chExt cx="1673847" cy="234145"/>
          </a:xfrm>
        </p:grpSpPr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A489EA17-9798-CB3C-248A-20E86C46F8B9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Box 15">
              <a:extLst>
                <a:ext uri="{FF2B5EF4-FFF2-40B4-BE49-F238E27FC236}">
                  <a16:creationId xmlns:a16="http://schemas.microsoft.com/office/drawing/2014/main" id="{2240DCCF-62EC-9D54-FC71-A835B886187A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Freeform 27">
            <a:extLst>
              <a:ext uri="{FF2B5EF4-FFF2-40B4-BE49-F238E27FC236}">
                <a16:creationId xmlns:a16="http://schemas.microsoft.com/office/drawing/2014/main" id="{DF965F73-8B0E-9E69-44D2-7F096DFF98AF}"/>
              </a:ext>
            </a:extLst>
          </p:cNvPr>
          <p:cNvSpPr/>
          <p:nvPr/>
        </p:nvSpPr>
        <p:spPr>
          <a:xfrm>
            <a:off x="1799903" y="5495832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0"/>
                </a:lnTo>
                <a:lnTo>
                  <a:pt x="0" y="39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1" name="TextBox 34">
            <a:extLst>
              <a:ext uri="{FF2B5EF4-FFF2-40B4-BE49-F238E27FC236}">
                <a16:creationId xmlns:a16="http://schemas.microsoft.com/office/drawing/2014/main" id="{4A831710-01B5-8B6F-A81B-F35C0D992FC0}"/>
              </a:ext>
            </a:extLst>
          </p:cNvPr>
          <p:cNvSpPr txBox="1"/>
          <p:nvPr/>
        </p:nvSpPr>
        <p:spPr>
          <a:xfrm>
            <a:off x="4635235" y="5524649"/>
            <a:ext cx="9093731" cy="388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 내리는 명령을 수신하고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넘겨받은 데이터를 변환하여 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전송</a:t>
            </a:r>
            <a:endParaRPr lang="en-US" sz="23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2" name="TextBox 38">
            <a:extLst>
              <a:ext uri="{FF2B5EF4-FFF2-40B4-BE49-F238E27FC236}">
                <a16:creationId xmlns:a16="http://schemas.microsoft.com/office/drawing/2014/main" id="{7D37E6FC-EE50-8BF4-9AAE-F7677098AF66}"/>
              </a:ext>
            </a:extLst>
          </p:cNvPr>
          <p:cNvSpPr txBox="1"/>
          <p:nvPr/>
        </p:nvSpPr>
        <p:spPr>
          <a:xfrm>
            <a:off x="2485477" y="5467566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UART</a:t>
            </a:r>
          </a:p>
        </p:txBody>
      </p:sp>
      <p:sp>
        <p:nvSpPr>
          <p:cNvPr id="53" name="AutoShape 42">
            <a:extLst>
              <a:ext uri="{FF2B5EF4-FFF2-40B4-BE49-F238E27FC236}">
                <a16:creationId xmlns:a16="http://schemas.microsoft.com/office/drawing/2014/main" id="{96017272-C365-7E49-D961-616B6B665F6E}"/>
              </a:ext>
            </a:extLst>
          </p:cNvPr>
          <p:cNvSpPr/>
          <p:nvPr/>
        </p:nvSpPr>
        <p:spPr>
          <a:xfrm flipV="1">
            <a:off x="4191000" y="5354651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8E8AFB48-89D4-77DC-FBB2-25635B366DCC}"/>
              </a:ext>
            </a:extLst>
          </p:cNvPr>
          <p:cNvGrpSpPr/>
          <p:nvPr/>
        </p:nvGrpSpPr>
        <p:grpSpPr>
          <a:xfrm>
            <a:off x="1371600" y="7159767"/>
            <a:ext cx="14020800" cy="1264122"/>
            <a:chOff x="0" y="0"/>
            <a:chExt cx="1673847" cy="234145"/>
          </a:xfrm>
        </p:grpSpPr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99DA2050-2DBA-554C-C7A7-C9ACB448635F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15">
              <a:extLst>
                <a:ext uri="{FF2B5EF4-FFF2-40B4-BE49-F238E27FC236}">
                  <a16:creationId xmlns:a16="http://schemas.microsoft.com/office/drawing/2014/main" id="{ECCD9792-F249-D95A-1611-F6586F3D970B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7" name="Freeform 27">
            <a:extLst>
              <a:ext uri="{FF2B5EF4-FFF2-40B4-BE49-F238E27FC236}">
                <a16:creationId xmlns:a16="http://schemas.microsoft.com/office/drawing/2014/main" id="{BB7FEE5D-A9ED-5DF0-179D-91CFAD6FF65A}"/>
              </a:ext>
            </a:extLst>
          </p:cNvPr>
          <p:cNvSpPr/>
          <p:nvPr/>
        </p:nvSpPr>
        <p:spPr>
          <a:xfrm>
            <a:off x="1799903" y="7595997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0"/>
                </a:lnTo>
                <a:lnTo>
                  <a:pt x="0" y="39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8" name="TextBox 34">
            <a:extLst>
              <a:ext uri="{FF2B5EF4-FFF2-40B4-BE49-F238E27FC236}">
                <a16:creationId xmlns:a16="http://schemas.microsoft.com/office/drawing/2014/main" id="{86E3F80D-5704-6A61-F7BA-A2455B00DAF6}"/>
              </a:ext>
            </a:extLst>
          </p:cNvPr>
          <p:cNvSpPr txBox="1"/>
          <p:nvPr/>
        </p:nvSpPr>
        <p:spPr>
          <a:xfrm>
            <a:off x="4635235" y="7624814"/>
            <a:ext cx="10147562" cy="388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 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Segment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내리는 명령을 수신하여 데이터를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활용하여 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Segment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제어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endParaRPr lang="en-US" sz="23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9" name="TextBox 38">
            <a:extLst>
              <a:ext uri="{FF2B5EF4-FFF2-40B4-BE49-F238E27FC236}">
                <a16:creationId xmlns:a16="http://schemas.microsoft.com/office/drawing/2014/main" id="{B9A9682E-BFDF-053F-0DFD-92AB935F09F8}"/>
              </a:ext>
            </a:extLst>
          </p:cNvPr>
          <p:cNvSpPr txBox="1"/>
          <p:nvPr/>
        </p:nvSpPr>
        <p:spPr>
          <a:xfrm>
            <a:off x="2485477" y="7567731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Segment</a:t>
            </a:r>
          </a:p>
        </p:txBody>
      </p:sp>
      <p:sp>
        <p:nvSpPr>
          <p:cNvPr id="60" name="AutoShape 42">
            <a:extLst>
              <a:ext uri="{FF2B5EF4-FFF2-40B4-BE49-F238E27FC236}">
                <a16:creationId xmlns:a16="http://schemas.microsoft.com/office/drawing/2014/main" id="{2723A228-7DEA-8EC2-7432-5DF28CEF26B7}"/>
              </a:ext>
            </a:extLst>
          </p:cNvPr>
          <p:cNvSpPr/>
          <p:nvPr/>
        </p:nvSpPr>
        <p:spPr>
          <a:xfrm flipV="1">
            <a:off x="4191000" y="7454816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930C-68D8-1663-24F5-FD26017B7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4CDE39-8A50-CB80-3C4F-E87874B7EDA5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23C96A-C36C-C23D-3A63-109F038C0EDE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5F0BEE-70CB-0C7D-0957-E55DE1D486AA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C1547C5-D4E0-62A9-D36D-4CDAE2AA8168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11C6719-C69D-E11A-CA38-69B0A68254D1}"/>
              </a:ext>
            </a:extLst>
          </p:cNvPr>
          <p:cNvSpPr txBox="1"/>
          <p:nvPr/>
        </p:nvSpPr>
        <p:spPr>
          <a:xfrm>
            <a:off x="1204098" y="768158"/>
            <a:ext cx="16914306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altLang="ko-KR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기반 </a:t>
            </a:r>
            <a:r>
              <a:rPr lang="en-US" altLang="ko-KR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Slave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주소 할당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89751AE-F598-13DC-C876-67337BCC6B0E}"/>
              </a:ext>
            </a:extLst>
          </p:cNvPr>
          <p:cNvGrpSpPr/>
          <p:nvPr/>
        </p:nvGrpSpPr>
        <p:grpSpPr>
          <a:xfrm>
            <a:off x="1371600" y="2935347"/>
            <a:ext cx="14020800" cy="1264122"/>
            <a:chOff x="0" y="0"/>
            <a:chExt cx="1673847" cy="23414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EF35A7B-169F-6055-68C9-E444E415F836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ECC95E4-6387-E98D-E829-C20C80FE4B85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4F08DC66-5AA1-95E3-DC12-1B6737A04886}"/>
              </a:ext>
            </a:extLst>
          </p:cNvPr>
          <p:cNvSpPr/>
          <p:nvPr/>
        </p:nvSpPr>
        <p:spPr>
          <a:xfrm>
            <a:off x="1799903" y="3371577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0"/>
                </a:lnTo>
                <a:lnTo>
                  <a:pt x="0" y="39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0F43462-082E-EF7D-EFE4-4F1D577FA614}"/>
              </a:ext>
            </a:extLst>
          </p:cNvPr>
          <p:cNvSpPr txBox="1"/>
          <p:nvPr/>
        </p:nvSpPr>
        <p:spPr>
          <a:xfrm>
            <a:off x="4688455" y="3375672"/>
            <a:ext cx="7493278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0x4000_0000 ~ 0x4000_0FFF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A82AB6E-DA46-6325-022B-E733969B3C66}"/>
              </a:ext>
            </a:extLst>
          </p:cNvPr>
          <p:cNvSpPr txBox="1"/>
          <p:nvPr/>
        </p:nvSpPr>
        <p:spPr>
          <a:xfrm>
            <a:off x="2485477" y="3343311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Memory</a:t>
            </a: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799084A5-B484-04BA-353A-83D850FF24B5}"/>
              </a:ext>
            </a:extLst>
          </p:cNvPr>
          <p:cNvSpPr/>
          <p:nvPr/>
        </p:nvSpPr>
        <p:spPr>
          <a:xfrm flipV="1">
            <a:off x="4191000" y="3230396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6D8DEF0C-52BF-FBB3-7DA0-410DC80808F7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AutoShape 42">
            <a:extLst>
              <a:ext uri="{FF2B5EF4-FFF2-40B4-BE49-F238E27FC236}">
                <a16:creationId xmlns:a16="http://schemas.microsoft.com/office/drawing/2014/main" id="{CD80952C-43DA-8174-C5B4-416763B286BF}"/>
              </a:ext>
            </a:extLst>
          </p:cNvPr>
          <p:cNvSpPr/>
          <p:nvPr/>
        </p:nvSpPr>
        <p:spPr>
          <a:xfrm flipV="1">
            <a:off x="12148411" y="3230395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8A7E45EB-D4C7-5396-C258-270EB56E8616}"/>
              </a:ext>
            </a:extLst>
          </p:cNvPr>
          <p:cNvSpPr txBox="1"/>
          <p:nvPr/>
        </p:nvSpPr>
        <p:spPr>
          <a:xfrm>
            <a:off x="13411200" y="3430206"/>
            <a:ext cx="1066803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4K</a:t>
            </a:r>
          </a:p>
        </p:txBody>
      </p:sp>
      <p:grpSp>
        <p:nvGrpSpPr>
          <p:cNvPr id="12" name="Group 13">
            <a:extLst>
              <a:ext uri="{FF2B5EF4-FFF2-40B4-BE49-F238E27FC236}">
                <a16:creationId xmlns:a16="http://schemas.microsoft.com/office/drawing/2014/main" id="{AB47012E-4323-D125-3B1B-3BB1B87D0592}"/>
              </a:ext>
            </a:extLst>
          </p:cNvPr>
          <p:cNvGrpSpPr/>
          <p:nvPr/>
        </p:nvGrpSpPr>
        <p:grpSpPr>
          <a:xfrm>
            <a:off x="1371600" y="5137872"/>
            <a:ext cx="14020800" cy="1264122"/>
            <a:chOff x="0" y="0"/>
            <a:chExt cx="1673847" cy="234145"/>
          </a:xfrm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669D56C-B9CD-6BF8-C1DF-10B9916EBBA8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2D609160-AE80-EB87-2770-BEEA6AFE6F86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27">
            <a:extLst>
              <a:ext uri="{FF2B5EF4-FFF2-40B4-BE49-F238E27FC236}">
                <a16:creationId xmlns:a16="http://schemas.microsoft.com/office/drawing/2014/main" id="{AC616662-08DD-C52F-EF3B-5555B3C7CDCA}"/>
              </a:ext>
            </a:extLst>
          </p:cNvPr>
          <p:cNvSpPr/>
          <p:nvPr/>
        </p:nvSpPr>
        <p:spPr>
          <a:xfrm>
            <a:off x="1799903" y="5574102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0"/>
                </a:lnTo>
                <a:lnTo>
                  <a:pt x="0" y="39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TextBox 34">
            <a:extLst>
              <a:ext uri="{FF2B5EF4-FFF2-40B4-BE49-F238E27FC236}">
                <a16:creationId xmlns:a16="http://schemas.microsoft.com/office/drawing/2014/main" id="{F1F46580-E465-1DA6-2E73-666F132F55F5}"/>
              </a:ext>
            </a:extLst>
          </p:cNvPr>
          <p:cNvSpPr txBox="1"/>
          <p:nvPr/>
        </p:nvSpPr>
        <p:spPr>
          <a:xfrm>
            <a:off x="4688455" y="5578197"/>
            <a:ext cx="7493278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0x44A1_0000 ~ 0x44A1_FFFF</a:t>
            </a:r>
          </a:p>
        </p:txBody>
      </p:sp>
      <p:sp>
        <p:nvSpPr>
          <p:cNvPr id="20" name="TextBox 38">
            <a:extLst>
              <a:ext uri="{FF2B5EF4-FFF2-40B4-BE49-F238E27FC236}">
                <a16:creationId xmlns:a16="http://schemas.microsoft.com/office/drawing/2014/main" id="{FB9925F9-DCDB-58E2-8FF1-D50D92A9B767}"/>
              </a:ext>
            </a:extLst>
          </p:cNvPr>
          <p:cNvSpPr txBox="1"/>
          <p:nvPr/>
        </p:nvSpPr>
        <p:spPr>
          <a:xfrm>
            <a:off x="2485477" y="5545836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UART</a:t>
            </a:r>
          </a:p>
        </p:txBody>
      </p:sp>
      <p:sp>
        <p:nvSpPr>
          <p:cNvPr id="21" name="AutoShape 42">
            <a:extLst>
              <a:ext uri="{FF2B5EF4-FFF2-40B4-BE49-F238E27FC236}">
                <a16:creationId xmlns:a16="http://schemas.microsoft.com/office/drawing/2014/main" id="{E910390C-43B8-47D5-FAF2-43DF0B755333}"/>
              </a:ext>
            </a:extLst>
          </p:cNvPr>
          <p:cNvSpPr/>
          <p:nvPr/>
        </p:nvSpPr>
        <p:spPr>
          <a:xfrm flipV="1">
            <a:off x="4191000" y="5432921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42">
            <a:extLst>
              <a:ext uri="{FF2B5EF4-FFF2-40B4-BE49-F238E27FC236}">
                <a16:creationId xmlns:a16="http://schemas.microsoft.com/office/drawing/2014/main" id="{69D87200-5FD1-1C20-D614-A18B758870D9}"/>
              </a:ext>
            </a:extLst>
          </p:cNvPr>
          <p:cNvSpPr/>
          <p:nvPr/>
        </p:nvSpPr>
        <p:spPr>
          <a:xfrm flipV="1">
            <a:off x="12148411" y="5432920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17131DE9-3B01-0141-C432-068871B26E18}"/>
              </a:ext>
            </a:extLst>
          </p:cNvPr>
          <p:cNvSpPr txBox="1"/>
          <p:nvPr/>
        </p:nvSpPr>
        <p:spPr>
          <a:xfrm>
            <a:off x="13270325" y="5578197"/>
            <a:ext cx="1066803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64K</a:t>
            </a:r>
          </a:p>
        </p:txBody>
      </p:sp>
      <p:grpSp>
        <p:nvGrpSpPr>
          <p:cNvPr id="24" name="Group 13">
            <a:extLst>
              <a:ext uri="{FF2B5EF4-FFF2-40B4-BE49-F238E27FC236}">
                <a16:creationId xmlns:a16="http://schemas.microsoft.com/office/drawing/2014/main" id="{BFC617D3-D673-93FE-448D-E81B2049C3C1}"/>
              </a:ext>
            </a:extLst>
          </p:cNvPr>
          <p:cNvGrpSpPr/>
          <p:nvPr/>
        </p:nvGrpSpPr>
        <p:grpSpPr>
          <a:xfrm>
            <a:off x="1375611" y="7334618"/>
            <a:ext cx="14020800" cy="1264122"/>
            <a:chOff x="0" y="0"/>
            <a:chExt cx="1673847" cy="234145"/>
          </a:xfrm>
        </p:grpSpPr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66CAA9F0-DD9E-B535-4835-E2319972FC35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B0EE52F0-1F8A-7B56-4013-BD3599C3D65E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35916CE2-6D65-D488-938A-4CE6E04EE23E}"/>
              </a:ext>
            </a:extLst>
          </p:cNvPr>
          <p:cNvSpPr/>
          <p:nvPr/>
        </p:nvSpPr>
        <p:spPr>
          <a:xfrm>
            <a:off x="1803914" y="7770848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0"/>
                </a:lnTo>
                <a:lnTo>
                  <a:pt x="0" y="399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3B275F11-A8AC-86AB-CAD1-E23DB2D89801}"/>
              </a:ext>
            </a:extLst>
          </p:cNvPr>
          <p:cNvSpPr txBox="1"/>
          <p:nvPr/>
        </p:nvSpPr>
        <p:spPr>
          <a:xfrm>
            <a:off x="4692466" y="7774943"/>
            <a:ext cx="7493278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0x44A0_0000 ~ 0x44A0_FFFF</a:t>
            </a:r>
          </a:p>
        </p:txBody>
      </p:sp>
      <p:sp>
        <p:nvSpPr>
          <p:cNvPr id="30" name="TextBox 38">
            <a:extLst>
              <a:ext uri="{FF2B5EF4-FFF2-40B4-BE49-F238E27FC236}">
                <a16:creationId xmlns:a16="http://schemas.microsoft.com/office/drawing/2014/main" id="{B83535D1-8ED5-A45B-445E-64A012ED508E}"/>
              </a:ext>
            </a:extLst>
          </p:cNvPr>
          <p:cNvSpPr txBox="1"/>
          <p:nvPr/>
        </p:nvSpPr>
        <p:spPr>
          <a:xfrm>
            <a:off x="2489488" y="7742582"/>
            <a:ext cx="2394474" cy="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Segment</a:t>
            </a:r>
          </a:p>
        </p:txBody>
      </p:sp>
      <p:sp>
        <p:nvSpPr>
          <p:cNvPr id="31" name="AutoShape 42">
            <a:extLst>
              <a:ext uri="{FF2B5EF4-FFF2-40B4-BE49-F238E27FC236}">
                <a16:creationId xmlns:a16="http://schemas.microsoft.com/office/drawing/2014/main" id="{5D783E54-AB27-8F8F-553E-5A5A8CE99D32}"/>
              </a:ext>
            </a:extLst>
          </p:cNvPr>
          <p:cNvSpPr/>
          <p:nvPr/>
        </p:nvSpPr>
        <p:spPr>
          <a:xfrm flipV="1">
            <a:off x="4195011" y="7629667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utoShape 42">
            <a:extLst>
              <a:ext uri="{FF2B5EF4-FFF2-40B4-BE49-F238E27FC236}">
                <a16:creationId xmlns:a16="http://schemas.microsoft.com/office/drawing/2014/main" id="{5053CE83-B461-14A6-F012-20B9F8854386}"/>
              </a:ext>
            </a:extLst>
          </p:cNvPr>
          <p:cNvSpPr/>
          <p:nvPr/>
        </p:nvSpPr>
        <p:spPr>
          <a:xfrm flipV="1">
            <a:off x="12152422" y="7629666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FCA7FE14-45EC-7E2F-D0F5-720F9EC28EA8}"/>
              </a:ext>
            </a:extLst>
          </p:cNvPr>
          <p:cNvSpPr txBox="1"/>
          <p:nvPr/>
        </p:nvSpPr>
        <p:spPr>
          <a:xfrm>
            <a:off x="13270325" y="7736451"/>
            <a:ext cx="1066803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64K</a:t>
            </a:r>
          </a:p>
        </p:txBody>
      </p:sp>
    </p:spTree>
    <p:extLst>
      <p:ext uri="{BB962C8B-B14F-4D97-AF65-F5344CB8AC3E}">
        <p14:creationId xmlns:p14="http://schemas.microsoft.com/office/powerpoint/2010/main" val="50311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4F1AB-7F87-305E-40CE-F0473252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B56EEE4-2F8A-E94D-FAAD-96953923B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1357" y="4446230"/>
            <a:ext cx="11649316" cy="3069752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71F3A75C-713E-66FD-A73A-519769EF5675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4FBEA13-8AB4-677C-650B-B88360D46D53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4BCEFB-9D6C-5FE3-9167-0EDB5E0CF08B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1AE4090-3A39-E06A-E0B4-D3A9A8012EA8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D595F2-F7F4-D4D4-1447-4BE87A4737DB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Memory 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E0283D1-4626-88FA-BFD9-53CFE4128C1C}"/>
              </a:ext>
            </a:extLst>
          </p:cNvPr>
          <p:cNvSpPr txBox="1"/>
          <p:nvPr/>
        </p:nvSpPr>
        <p:spPr>
          <a:xfrm>
            <a:off x="2362201" y="3471324"/>
            <a:ext cx="11125199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Read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Memory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지연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: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주소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제공 시점으로부터  </a:t>
            </a:r>
            <a:r>
              <a:rPr lang="en-US" altLang="ko-KR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 Cycle </a:t>
            </a:r>
            <a:r>
              <a:rPr lang="ko-KR" altLang="en-US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이후</a:t>
            </a:r>
            <a:r>
              <a:rPr lang="en-US" altLang="ko-KR" sz="36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endParaRPr lang="en-US" sz="2800" b="1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1B8FAB1-3772-9979-79AF-29F2C22CB7CD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Block Memory </a:t>
            </a:r>
            <a:r>
              <a:rPr lang="ko-KR" alt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특성</a:t>
            </a: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99D97642-C55F-E676-A274-46B4D2B7DE5D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37C0D32-CF19-387A-A518-F4FD7AD46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F1F4BA7-1FD7-41FC-017A-706DC8217F7A}"/>
              </a:ext>
            </a:extLst>
          </p:cNvPr>
          <p:cNvCxnSpPr/>
          <p:nvPr/>
        </p:nvCxnSpPr>
        <p:spPr>
          <a:xfrm>
            <a:off x="3581400" y="4274818"/>
            <a:ext cx="0" cy="3733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FCC7FD2-AC20-F2D6-B1F2-DBE903CA0346}"/>
              </a:ext>
            </a:extLst>
          </p:cNvPr>
          <p:cNvCxnSpPr/>
          <p:nvPr/>
        </p:nvCxnSpPr>
        <p:spPr>
          <a:xfrm>
            <a:off x="4343400" y="4274818"/>
            <a:ext cx="0" cy="3733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34">
            <a:extLst>
              <a:ext uri="{FF2B5EF4-FFF2-40B4-BE49-F238E27FC236}">
                <a16:creationId xmlns:a16="http://schemas.microsoft.com/office/drawing/2014/main" id="{ED0214F1-1700-173F-8060-CFB22CD273CE}"/>
              </a:ext>
            </a:extLst>
          </p:cNvPr>
          <p:cNvSpPr txBox="1"/>
          <p:nvPr/>
        </p:nvSpPr>
        <p:spPr>
          <a:xfrm>
            <a:off x="8839200" y="8300067"/>
            <a:ext cx="8534399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2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=&gt; Memory Controller</a:t>
            </a:r>
            <a:r>
              <a:rPr lang="ko-KR" altLang="en-US" sz="32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</a:t>
            </a:r>
            <a:r>
              <a:rPr lang="en-US" altLang="ko-KR" sz="32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Read Channel</a:t>
            </a:r>
            <a:r>
              <a:rPr lang="ko-KR" altLang="en-US" sz="32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 반영</a:t>
            </a:r>
            <a:endParaRPr lang="en-US" sz="3200" b="1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2026818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4DEA-5F95-9DE4-F519-6FDA5308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079829-CE43-66E4-DA6E-690C60A2C01C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5FB752-CC97-A33F-406B-2A123F97B261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B1A5B3-F1E4-A9AE-3CA2-183DC263EF62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6101026-3AB5-1213-10A4-EC357B7181B2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2C11495-7AF9-A4BD-C67C-B77486BA3877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Memory 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BAD4D67-5A86-0BB4-62CD-42E6262F4296}"/>
              </a:ext>
            </a:extLst>
          </p:cNvPr>
          <p:cNvSpPr txBox="1"/>
          <p:nvPr/>
        </p:nvSpPr>
        <p:spPr>
          <a:xfrm>
            <a:off x="2209800" y="3686851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Handshake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적용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08541F9-C667-777D-FC23-BC292C37C52B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Memory Controller 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1FFA75D5-E64B-007B-CC69-AE6F92867D20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D7AA277-A15D-672E-15E7-9D2CA58E4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631356CC-0187-5E67-E899-3C42D02CC1D6}"/>
              </a:ext>
            </a:extLst>
          </p:cNvPr>
          <p:cNvSpPr txBox="1"/>
          <p:nvPr/>
        </p:nvSpPr>
        <p:spPr>
          <a:xfrm>
            <a:off x="2209800" y="4474726"/>
            <a:ext cx="1432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interface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에서 변환한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주소 체계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(Byte)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를 다시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BRAM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주소 체계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(Word)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변경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8B23575-DB2E-D808-82A5-DD70A61565F0}"/>
              </a:ext>
            </a:extLst>
          </p:cNvPr>
          <p:cNvSpPr txBox="1"/>
          <p:nvPr/>
        </p:nvSpPr>
        <p:spPr>
          <a:xfrm>
            <a:off x="2209800" y="6137258"/>
            <a:ext cx="1432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Memory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지연 시간 반영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2" name="TextBox 34">
            <a:extLst>
              <a:ext uri="{FF2B5EF4-FFF2-40B4-BE49-F238E27FC236}">
                <a16:creationId xmlns:a16="http://schemas.microsoft.com/office/drawing/2014/main" id="{AAE63707-FE83-FD4E-0063-F9443E3FC40F}"/>
              </a:ext>
            </a:extLst>
          </p:cNvPr>
          <p:cNvSpPr txBox="1"/>
          <p:nvPr/>
        </p:nvSpPr>
        <p:spPr>
          <a:xfrm>
            <a:off x="3200400" y="5278201"/>
            <a:ext cx="30480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=&gt;  ADDR[13:2]</a:t>
            </a:r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E05B689D-90B4-642C-5F39-26538C47B7F1}"/>
              </a:ext>
            </a:extLst>
          </p:cNvPr>
          <p:cNvSpPr txBox="1"/>
          <p:nvPr/>
        </p:nvSpPr>
        <p:spPr>
          <a:xfrm>
            <a:off x="3200400" y="6693216"/>
            <a:ext cx="12954000" cy="122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=&gt; 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주소를 받았을 때의 시점에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Flag =1 </a:t>
            </a:r>
          </a:p>
          <a:p>
            <a:pPr algn="l">
              <a:lnSpc>
                <a:spcPct val="150000"/>
              </a:lnSpc>
            </a:pP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=&gt; (</a:t>
            </a:r>
            <a:r>
              <a:rPr lang="en-US" altLang="ko-KR" sz="2800" b="1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Posedge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b="1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clk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마다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Flag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상태를 담는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Register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 되었을 때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read 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실행 </a:t>
            </a:r>
            <a:endParaRPr lang="en-US" sz="2800" b="1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492394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8F97-4A44-BA30-1184-8698FFDB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3F3BAA-5C52-F0F4-7D95-19444CCE0105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9E5123-6D39-8ADD-C275-D93D3D83C161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469330-7CBC-E1C3-A26F-336BA1CB95FE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7A7830E-8633-3290-7761-4A356493852C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8E509A9-BF9B-08B8-872C-538644561B65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UART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</a:t>
            </a: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F58FD66-046F-F57E-1ABB-CBD5DE932BF6}"/>
              </a:ext>
            </a:extLst>
          </p:cNvPr>
          <p:cNvSpPr txBox="1"/>
          <p:nvPr/>
        </p:nvSpPr>
        <p:spPr>
          <a:xfrm>
            <a:off x="2209800" y="3686851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직렬</a:t>
            </a: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통신을 위한 비동기식 프로토콜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DB723BA-3221-10D1-2912-DF79EEA10360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UART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89C6817F-235B-9C94-A196-9E2767CD9D0E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4EDDC63-468F-49C3-0443-1C697EEB7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1932301B-F9D7-2106-08D7-5E8871E88F1F}"/>
              </a:ext>
            </a:extLst>
          </p:cNvPr>
          <p:cNvSpPr txBox="1"/>
          <p:nvPr/>
        </p:nvSpPr>
        <p:spPr>
          <a:xfrm>
            <a:off x="2209800" y="4474726"/>
            <a:ext cx="1432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I/O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명령어 수행하면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Interface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 Controller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데이터 전송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DB398003-4530-CF5B-A884-AD9F92BFD878}"/>
              </a:ext>
            </a:extLst>
          </p:cNvPr>
          <p:cNvSpPr txBox="1"/>
          <p:nvPr/>
        </p:nvSpPr>
        <p:spPr>
          <a:xfrm>
            <a:off x="2209800" y="5279907"/>
            <a:ext cx="1432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수신한 병렬 데이터를 직렬 데이터로 변환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3B7C0A-D449-5D6E-6618-709BDE6C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86500"/>
            <a:ext cx="9990229" cy="2493733"/>
          </a:xfrm>
          <a:prstGeom prst="rect">
            <a:avLst/>
          </a:prstGeom>
        </p:spPr>
      </p:pic>
      <p:sp>
        <p:nvSpPr>
          <p:cNvPr id="12" name="십자형 11">
            <a:extLst>
              <a:ext uri="{FF2B5EF4-FFF2-40B4-BE49-F238E27FC236}">
                <a16:creationId xmlns:a16="http://schemas.microsoft.com/office/drawing/2014/main" id="{A4435F8F-E646-5F91-9CE1-E9DA96C1B9D0}"/>
              </a:ext>
            </a:extLst>
          </p:cNvPr>
          <p:cNvSpPr/>
          <p:nvPr/>
        </p:nvSpPr>
        <p:spPr>
          <a:xfrm rot="2801258">
            <a:off x="9892181" y="7848600"/>
            <a:ext cx="706460" cy="685800"/>
          </a:xfrm>
          <a:prstGeom prst="plus">
            <a:avLst>
              <a:gd name="adj" fmla="val 4238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769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EE92-9A9F-B4FD-B033-A85E29DA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F06B84-FBAD-E2B0-0CE2-5828373FD1F0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EBA85C-D398-27EE-C439-E313F2D86EBA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76A501B-D0D6-7B19-2643-B4C5E187788F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80FB4BA-E9DF-F982-E0C9-A46F9D760633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7FD1C4-C205-1F51-8634-4D184948D6B9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UART 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0BAEF1D9-AB03-FF3F-7B50-1B12EBBDD243}"/>
              </a:ext>
            </a:extLst>
          </p:cNvPr>
          <p:cNvSpPr txBox="1"/>
          <p:nvPr/>
        </p:nvSpPr>
        <p:spPr>
          <a:xfrm>
            <a:off x="2209800" y="3686851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</a:t>
            </a: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신호를 수신하는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Slave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 동시에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신호를 송신하는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Master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5D50B85C-0ED9-BAF6-D424-68CEFD0E41A8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UART Controller 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B451C92A-AC46-976B-9166-83CCDBABC6D5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B9C914D-4BDB-0475-AC8B-8827EE19E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7233DC3F-9ADB-85C3-1043-A24E8B6B5EED}"/>
              </a:ext>
            </a:extLst>
          </p:cNvPr>
          <p:cNvSpPr txBox="1"/>
          <p:nvPr/>
        </p:nvSpPr>
        <p:spPr>
          <a:xfrm>
            <a:off x="2209800" y="4474726"/>
            <a:ext cx="1432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중간에 수신한 데이터를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데이터에 맞게 변환해주는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UART Transform Block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제작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083F3E4F-2401-F658-12D8-69951629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5139948"/>
            <a:ext cx="11364112" cy="452693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9597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84F2-D5E4-996C-A0E3-4C88ADA9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7AA136-A647-6FF8-7DD5-3322BFF3A815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DF1361-D01C-4942-F377-3065E93ED2CB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E28271C-4A9F-A46B-B5E0-F2A19EB66521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DC15D09-817D-DF60-2BC0-CCC5E42A8713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75FB796-96AC-5B82-C159-351144071921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AXI UART 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482389C-A970-52D5-9C89-E4B9E503DF5D}"/>
              </a:ext>
            </a:extLst>
          </p:cNvPr>
          <p:cNvSpPr txBox="1"/>
          <p:nvPr/>
        </p:nvSpPr>
        <p:spPr>
          <a:xfrm>
            <a:off x="2209800" y="3686851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Hex2ASCII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변환 함수를 통해 수신한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16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비트 데이터를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ASCII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문자로 바꿔준다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DD2E7FA-ED54-CF4D-4242-1B79DA31DFA2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2.1 UART Transform Block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FF199FEE-6E3A-34A5-910B-AD7B0363BB4C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CCFBE98-DE97-556A-2F70-DBA7141C6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695E7556-8FCD-EFF7-B404-84A48E7E8C75}"/>
              </a:ext>
            </a:extLst>
          </p:cNvPr>
          <p:cNvSpPr txBox="1"/>
          <p:nvPr/>
        </p:nvSpPr>
        <p:spPr>
          <a:xfrm>
            <a:off x="2209800" y="4474726"/>
            <a:ext cx="14325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FSM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활용해 변환한 문자를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index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만 바꿔서 전송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1968485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E9C9-CEBC-630F-B45C-128F4B09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39F4481F-ADE7-611B-23EE-A98278F2672C}"/>
              </a:ext>
            </a:extLst>
          </p:cNvPr>
          <p:cNvSpPr/>
          <p:nvPr/>
        </p:nvSpPr>
        <p:spPr>
          <a:xfrm>
            <a:off x="3454365" y="1866900"/>
            <a:ext cx="8995172" cy="6172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D1C0D7-924C-18FD-214E-CD55CC7B41FE}"/>
              </a:ext>
            </a:extLst>
          </p:cNvPr>
          <p:cNvSpPr/>
          <p:nvPr/>
        </p:nvSpPr>
        <p:spPr>
          <a:xfrm>
            <a:off x="7115782" y="3234948"/>
            <a:ext cx="2703558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AC9B2DF-0E59-F332-45B6-14D40317CD5A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CEB27F-3977-3541-2BA8-15D28BA71F1B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3608CCA-B65D-C592-F2CE-BEDB3C28E458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6" name="Rectangle 4">
            <a:extLst>
              <a:ext uri="{FF2B5EF4-FFF2-40B4-BE49-F238E27FC236}">
                <a16:creationId xmlns:a16="http://schemas.microsoft.com/office/drawing/2014/main" id="{9E7B39F0-8530-70C9-9769-E1B45C061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07E904-04B1-388D-F834-68497AAE904C}"/>
              </a:ext>
            </a:extLst>
          </p:cNvPr>
          <p:cNvGrpSpPr/>
          <p:nvPr/>
        </p:nvGrpSpPr>
        <p:grpSpPr>
          <a:xfrm>
            <a:off x="189567" y="4712725"/>
            <a:ext cx="2318842" cy="609585"/>
            <a:chOff x="622849" y="6758660"/>
            <a:chExt cx="2318842" cy="60958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7CBF339-6757-27BF-F74A-BD08D7DD5AB1}"/>
                </a:ext>
              </a:extLst>
            </p:cNvPr>
            <p:cNvSpPr/>
            <p:nvPr/>
          </p:nvSpPr>
          <p:spPr>
            <a:xfrm>
              <a:off x="655691" y="6758660"/>
              <a:ext cx="2286000" cy="609585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34">
              <a:extLst>
                <a:ext uri="{FF2B5EF4-FFF2-40B4-BE49-F238E27FC236}">
                  <a16:creationId xmlns:a16="http://schemas.microsoft.com/office/drawing/2014/main" id="{F37388EC-BD6C-E5BB-58A7-71B01164FDE0}"/>
                </a:ext>
              </a:extLst>
            </p:cNvPr>
            <p:cNvSpPr txBox="1"/>
            <p:nvPr/>
          </p:nvSpPr>
          <p:spPr>
            <a:xfrm>
              <a:off x="622849" y="6865275"/>
              <a:ext cx="2286000" cy="3917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16</a:t>
              </a: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비트 데이터</a:t>
              </a:r>
              <a:endPara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B665C3-3848-1456-12A7-1F9BC903E2AB}"/>
              </a:ext>
            </a:extLst>
          </p:cNvPr>
          <p:cNvSpPr/>
          <p:nvPr/>
        </p:nvSpPr>
        <p:spPr>
          <a:xfrm>
            <a:off x="3762781" y="3610051"/>
            <a:ext cx="2286000" cy="29590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304716DA-1816-43E6-F474-D348BBCA946B}"/>
              </a:ext>
            </a:extLst>
          </p:cNvPr>
          <p:cNvSpPr txBox="1"/>
          <p:nvPr/>
        </p:nvSpPr>
        <p:spPr>
          <a:xfrm>
            <a:off x="3824113" y="4855558"/>
            <a:ext cx="2107563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Hex2ASCII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2CEC9884-CEBC-822F-011B-5A68B5C9EED4}"/>
              </a:ext>
            </a:extLst>
          </p:cNvPr>
          <p:cNvSpPr/>
          <p:nvPr/>
        </p:nvSpPr>
        <p:spPr>
          <a:xfrm>
            <a:off x="2698050" y="4846526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BA239B9-163C-BFAB-950A-F5DF0FAD77B1}"/>
              </a:ext>
            </a:extLst>
          </p:cNvPr>
          <p:cNvGrpSpPr/>
          <p:nvPr/>
        </p:nvGrpSpPr>
        <p:grpSpPr>
          <a:xfrm>
            <a:off x="7093036" y="3553202"/>
            <a:ext cx="1928920" cy="539002"/>
            <a:chOff x="7778836" y="5583019"/>
            <a:chExt cx="2286000" cy="539002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E12E6F9-85D4-D43F-60D8-09749A66533B}"/>
                </a:ext>
              </a:extLst>
            </p:cNvPr>
            <p:cNvSpPr/>
            <p:nvPr/>
          </p:nvSpPr>
          <p:spPr>
            <a:xfrm>
              <a:off x="7950286" y="5583019"/>
              <a:ext cx="1943100" cy="53900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34">
              <a:extLst>
                <a:ext uri="{FF2B5EF4-FFF2-40B4-BE49-F238E27FC236}">
                  <a16:creationId xmlns:a16="http://schemas.microsoft.com/office/drawing/2014/main" id="{C8F48821-D196-6824-5A9C-402D05BFA05C}"/>
                </a:ext>
              </a:extLst>
            </p:cNvPr>
            <p:cNvSpPr txBox="1"/>
            <p:nvPr/>
          </p:nvSpPr>
          <p:spPr>
            <a:xfrm>
              <a:off x="7778836" y="5656665"/>
              <a:ext cx="2286000" cy="3917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문자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(4</a:t>
              </a: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비트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)</a:t>
              </a:r>
              <a:endPara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AC6DB38-204A-7359-56D2-E07ADCFFEA7C}"/>
              </a:ext>
            </a:extLst>
          </p:cNvPr>
          <p:cNvGrpSpPr/>
          <p:nvPr/>
        </p:nvGrpSpPr>
        <p:grpSpPr>
          <a:xfrm>
            <a:off x="7086600" y="4459342"/>
            <a:ext cx="1928157" cy="539002"/>
            <a:chOff x="7778836" y="5583019"/>
            <a:chExt cx="2286000" cy="539002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E437F68-3EAE-9D65-259A-568234E09374}"/>
                </a:ext>
              </a:extLst>
            </p:cNvPr>
            <p:cNvSpPr/>
            <p:nvPr/>
          </p:nvSpPr>
          <p:spPr>
            <a:xfrm>
              <a:off x="7950286" y="5583019"/>
              <a:ext cx="1943100" cy="53900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34">
              <a:extLst>
                <a:ext uri="{FF2B5EF4-FFF2-40B4-BE49-F238E27FC236}">
                  <a16:creationId xmlns:a16="http://schemas.microsoft.com/office/drawing/2014/main" id="{18C04FCB-854C-3E42-5FD2-A7EE1248DE4E}"/>
                </a:ext>
              </a:extLst>
            </p:cNvPr>
            <p:cNvSpPr txBox="1"/>
            <p:nvPr/>
          </p:nvSpPr>
          <p:spPr>
            <a:xfrm>
              <a:off x="7778836" y="5656665"/>
              <a:ext cx="2286000" cy="3917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문자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(4</a:t>
              </a: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비트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)</a:t>
              </a:r>
              <a:endPara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3C2DE28-F27A-7B60-9D1B-D4C69094CE66}"/>
              </a:ext>
            </a:extLst>
          </p:cNvPr>
          <p:cNvGrpSpPr/>
          <p:nvPr/>
        </p:nvGrpSpPr>
        <p:grpSpPr>
          <a:xfrm>
            <a:off x="7093036" y="5297998"/>
            <a:ext cx="1928157" cy="539002"/>
            <a:chOff x="7778836" y="5583019"/>
            <a:chExt cx="2286000" cy="539002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629E148A-D7C2-B67E-7DE4-89C0479E35FD}"/>
                </a:ext>
              </a:extLst>
            </p:cNvPr>
            <p:cNvSpPr/>
            <p:nvPr/>
          </p:nvSpPr>
          <p:spPr>
            <a:xfrm>
              <a:off x="7950286" y="5583019"/>
              <a:ext cx="1943100" cy="53900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70706EF3-0D04-7082-E7A7-DFB6673793D5}"/>
                </a:ext>
              </a:extLst>
            </p:cNvPr>
            <p:cNvSpPr txBox="1"/>
            <p:nvPr/>
          </p:nvSpPr>
          <p:spPr>
            <a:xfrm>
              <a:off x="7778836" y="5656665"/>
              <a:ext cx="2286000" cy="3917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문자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(4</a:t>
              </a: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비트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)</a:t>
              </a:r>
              <a:endPara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21A8819-47B1-438C-1FD5-56813E671D52}"/>
              </a:ext>
            </a:extLst>
          </p:cNvPr>
          <p:cNvGrpSpPr/>
          <p:nvPr/>
        </p:nvGrpSpPr>
        <p:grpSpPr>
          <a:xfrm>
            <a:off x="7086600" y="6152427"/>
            <a:ext cx="1928157" cy="539002"/>
            <a:chOff x="7778836" y="5583019"/>
            <a:chExt cx="2286000" cy="539002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ECF09575-6A15-E155-FFAE-32F19D1B94A6}"/>
                </a:ext>
              </a:extLst>
            </p:cNvPr>
            <p:cNvSpPr/>
            <p:nvPr/>
          </p:nvSpPr>
          <p:spPr>
            <a:xfrm>
              <a:off x="7950286" y="5583019"/>
              <a:ext cx="1943100" cy="53900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7981D163-35AE-867E-C276-BBC13FBBDE3C}"/>
                </a:ext>
              </a:extLst>
            </p:cNvPr>
            <p:cNvSpPr txBox="1"/>
            <p:nvPr/>
          </p:nvSpPr>
          <p:spPr>
            <a:xfrm>
              <a:off x="7778836" y="5656665"/>
              <a:ext cx="2286000" cy="3917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문자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(4</a:t>
              </a: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비트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)</a:t>
              </a:r>
              <a:endPara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28D4CA47-26A0-CB06-179E-416EABD3F6AC}"/>
              </a:ext>
            </a:extLst>
          </p:cNvPr>
          <p:cNvSpPr/>
          <p:nvPr/>
        </p:nvSpPr>
        <p:spPr>
          <a:xfrm>
            <a:off x="6349109" y="3670530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E4414707-9F28-697B-F31A-A2B4CAF06E3D}"/>
              </a:ext>
            </a:extLst>
          </p:cNvPr>
          <p:cNvSpPr/>
          <p:nvPr/>
        </p:nvSpPr>
        <p:spPr>
          <a:xfrm>
            <a:off x="6336716" y="4527390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E8BD18FD-911A-1313-6BB8-7E008908ECB4}"/>
              </a:ext>
            </a:extLst>
          </p:cNvPr>
          <p:cNvSpPr/>
          <p:nvPr/>
        </p:nvSpPr>
        <p:spPr>
          <a:xfrm>
            <a:off x="6336716" y="5379238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0BB28056-5D69-92D2-26A5-EC22049A7529}"/>
              </a:ext>
            </a:extLst>
          </p:cNvPr>
          <p:cNvSpPr/>
          <p:nvPr/>
        </p:nvSpPr>
        <p:spPr>
          <a:xfrm>
            <a:off x="6349109" y="6170241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34">
            <a:extLst>
              <a:ext uri="{FF2B5EF4-FFF2-40B4-BE49-F238E27FC236}">
                <a16:creationId xmlns:a16="http://schemas.microsoft.com/office/drawing/2014/main" id="{899C3576-4F19-83B7-0342-F3C603035037}"/>
              </a:ext>
            </a:extLst>
          </p:cNvPr>
          <p:cNvSpPr txBox="1"/>
          <p:nvPr/>
        </p:nvSpPr>
        <p:spPr>
          <a:xfrm>
            <a:off x="7112706" y="2692681"/>
            <a:ext cx="3429000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2800" b="1" spc="-46" dirty="0" err="1">
                <a:latin typeface="TDTD순고딕"/>
                <a:ea typeface="TDTD순고딕"/>
                <a:cs typeface="TDTD순고딕"/>
                <a:sym typeface="TDTD순고딕"/>
              </a:rPr>
              <a:t>Tx_Buffer</a:t>
            </a:r>
            <a:r>
              <a:rPr lang="en-US" sz="2800" b="1" spc="-46" dirty="0">
                <a:latin typeface="TDTD순고딕"/>
                <a:ea typeface="TDTD순고딕"/>
                <a:cs typeface="TDTD순고딕"/>
                <a:sym typeface="TDTD순고딕"/>
              </a:rPr>
              <a:t>[index]</a:t>
            </a:r>
          </a:p>
        </p:txBody>
      </p:sp>
      <p:sp>
        <p:nvSpPr>
          <p:cNvPr id="14" name="TextBox 34">
            <a:extLst>
              <a:ext uri="{FF2B5EF4-FFF2-40B4-BE49-F238E27FC236}">
                <a16:creationId xmlns:a16="http://schemas.microsoft.com/office/drawing/2014/main" id="{DF7B7D0A-5499-166D-35D0-2373298A9C50}"/>
              </a:ext>
            </a:extLst>
          </p:cNvPr>
          <p:cNvSpPr txBox="1"/>
          <p:nvPr/>
        </p:nvSpPr>
        <p:spPr>
          <a:xfrm>
            <a:off x="9031742" y="3687763"/>
            <a:ext cx="592899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[0]</a:t>
            </a: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EA270962-DFE3-7193-F41F-3BD4AD905AEC}"/>
              </a:ext>
            </a:extLst>
          </p:cNvPr>
          <p:cNvSpPr txBox="1"/>
          <p:nvPr/>
        </p:nvSpPr>
        <p:spPr>
          <a:xfrm>
            <a:off x="9048443" y="4519009"/>
            <a:ext cx="592899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[1]</a:t>
            </a: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4AF35516-1D55-A94A-38D7-67B5997F2F16}"/>
              </a:ext>
            </a:extLst>
          </p:cNvPr>
          <p:cNvSpPr txBox="1"/>
          <p:nvPr/>
        </p:nvSpPr>
        <p:spPr>
          <a:xfrm>
            <a:off x="9048443" y="5322456"/>
            <a:ext cx="592899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[2]</a:t>
            </a:r>
          </a:p>
        </p:txBody>
      </p:sp>
      <p:sp>
        <p:nvSpPr>
          <p:cNvPr id="20" name="TextBox 34">
            <a:extLst>
              <a:ext uri="{FF2B5EF4-FFF2-40B4-BE49-F238E27FC236}">
                <a16:creationId xmlns:a16="http://schemas.microsoft.com/office/drawing/2014/main" id="{5151FFEC-40AC-1864-5D77-C6147239738F}"/>
              </a:ext>
            </a:extLst>
          </p:cNvPr>
          <p:cNvSpPr txBox="1"/>
          <p:nvPr/>
        </p:nvSpPr>
        <p:spPr>
          <a:xfrm>
            <a:off x="9048442" y="6235277"/>
            <a:ext cx="592899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[3]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FE904C6-111B-F7B9-32A4-85FDCCBDD2E0}"/>
              </a:ext>
            </a:extLst>
          </p:cNvPr>
          <p:cNvSpPr/>
          <p:nvPr/>
        </p:nvSpPr>
        <p:spPr>
          <a:xfrm>
            <a:off x="9936657" y="4790211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8F9FED2-2A20-5E3D-E6DE-73B60DF8B514}"/>
              </a:ext>
            </a:extLst>
          </p:cNvPr>
          <p:cNvGrpSpPr/>
          <p:nvPr/>
        </p:nvGrpSpPr>
        <p:grpSpPr>
          <a:xfrm>
            <a:off x="10783683" y="4459342"/>
            <a:ext cx="1371600" cy="1065158"/>
            <a:chOff x="11646670" y="4469514"/>
            <a:chExt cx="1371600" cy="106515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99DB42F-1107-B719-E99D-90553F92D4C2}"/>
                </a:ext>
              </a:extLst>
            </p:cNvPr>
            <p:cNvSpPr/>
            <p:nvPr/>
          </p:nvSpPr>
          <p:spPr>
            <a:xfrm>
              <a:off x="11646670" y="4469514"/>
              <a:ext cx="1371600" cy="106515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34">
              <a:extLst>
                <a:ext uri="{FF2B5EF4-FFF2-40B4-BE49-F238E27FC236}">
                  <a16:creationId xmlns:a16="http://schemas.microsoft.com/office/drawing/2014/main" id="{898C2EC3-BFA8-3D20-8C76-387347BA0015}"/>
                </a:ext>
              </a:extLst>
            </p:cNvPr>
            <p:cNvSpPr txBox="1"/>
            <p:nvPr/>
          </p:nvSpPr>
          <p:spPr>
            <a:xfrm>
              <a:off x="11751980" y="4829935"/>
              <a:ext cx="1154352" cy="4196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3200" b="1" spc="-46" dirty="0">
                  <a:latin typeface="TDTD순고딕"/>
                  <a:ea typeface="TDTD순고딕"/>
                  <a:cs typeface="TDTD순고딕"/>
                  <a:sym typeface="TDTD순고딕"/>
                </a:rPr>
                <a:t>FSM</a:t>
              </a:r>
            </a:p>
          </p:txBody>
        </p:sp>
      </p:grp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ECD55B20-547B-B18C-7347-74F51C3F570F}"/>
              </a:ext>
            </a:extLst>
          </p:cNvPr>
          <p:cNvSpPr/>
          <p:nvPr/>
        </p:nvSpPr>
        <p:spPr>
          <a:xfrm>
            <a:off x="12313533" y="4810071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EF8117C-1B43-1C35-4470-B875EAE07BD8}"/>
              </a:ext>
            </a:extLst>
          </p:cNvPr>
          <p:cNvSpPr/>
          <p:nvPr/>
        </p:nvSpPr>
        <p:spPr>
          <a:xfrm>
            <a:off x="13275237" y="4646506"/>
            <a:ext cx="3393808" cy="7454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534357B-3C49-9AFC-BE28-657A2C8D6453}"/>
              </a:ext>
            </a:extLst>
          </p:cNvPr>
          <p:cNvGrpSpPr/>
          <p:nvPr/>
        </p:nvGrpSpPr>
        <p:grpSpPr>
          <a:xfrm>
            <a:off x="13275237" y="4759021"/>
            <a:ext cx="2023324" cy="539002"/>
            <a:chOff x="7778836" y="5583019"/>
            <a:chExt cx="2286000" cy="539002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D80DB5E5-EEFA-6200-FC2C-7956CA196286}"/>
                </a:ext>
              </a:extLst>
            </p:cNvPr>
            <p:cNvSpPr/>
            <p:nvPr/>
          </p:nvSpPr>
          <p:spPr>
            <a:xfrm>
              <a:off x="7950286" y="5583019"/>
              <a:ext cx="1943100" cy="53900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TextBox 34">
              <a:extLst>
                <a:ext uri="{FF2B5EF4-FFF2-40B4-BE49-F238E27FC236}">
                  <a16:creationId xmlns:a16="http://schemas.microsoft.com/office/drawing/2014/main" id="{7C14A70B-6848-F93C-81DB-B3B267E66048}"/>
                </a:ext>
              </a:extLst>
            </p:cNvPr>
            <p:cNvSpPr txBox="1"/>
            <p:nvPr/>
          </p:nvSpPr>
          <p:spPr>
            <a:xfrm>
              <a:off x="7778836" y="5656665"/>
              <a:ext cx="2286000" cy="3917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문자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(4</a:t>
              </a:r>
              <a:r>
                <a:rPr lang="ko-KR" altLang="en-US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비트</a:t>
              </a:r>
              <a:r>
                <a:rPr lang="en-US" altLang="ko-KR" sz="2400" spc="-46" dirty="0">
                  <a:solidFill>
                    <a:srgbClr val="24485E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)</a:t>
              </a:r>
              <a:endPara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  <p:sp>
        <p:nvSpPr>
          <p:cNvPr id="49" name="TextBox 34">
            <a:extLst>
              <a:ext uri="{FF2B5EF4-FFF2-40B4-BE49-F238E27FC236}">
                <a16:creationId xmlns:a16="http://schemas.microsoft.com/office/drawing/2014/main" id="{F0E83AEC-FF2B-82A2-E2DC-9F9DC8CF8F79}"/>
              </a:ext>
            </a:extLst>
          </p:cNvPr>
          <p:cNvSpPr txBox="1"/>
          <p:nvPr/>
        </p:nvSpPr>
        <p:spPr>
          <a:xfrm>
            <a:off x="15258542" y="4855558"/>
            <a:ext cx="1537606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[index]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16712AA2-D3E1-F56A-C616-D6A5963FDF04}"/>
              </a:ext>
            </a:extLst>
          </p:cNvPr>
          <p:cNvSpPr txBox="1"/>
          <p:nvPr/>
        </p:nvSpPr>
        <p:spPr>
          <a:xfrm>
            <a:off x="10686964" y="2075176"/>
            <a:ext cx="1868081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Index++</a:t>
            </a:r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B7285062-0F35-BF13-EC8B-E5B3E8202990}"/>
              </a:ext>
            </a:extLst>
          </p:cNvPr>
          <p:cNvSpPr/>
          <p:nvPr/>
        </p:nvSpPr>
        <p:spPr>
          <a:xfrm>
            <a:off x="16834936" y="4798893"/>
            <a:ext cx="660949" cy="37067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E4C381FF-B017-A678-77CF-0162C7AC4C68}"/>
              </a:ext>
            </a:extLst>
          </p:cNvPr>
          <p:cNvSpPr txBox="1"/>
          <p:nvPr/>
        </p:nvSpPr>
        <p:spPr>
          <a:xfrm>
            <a:off x="3454365" y="1272571"/>
            <a:ext cx="5156236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UART Transform Block</a:t>
            </a:r>
          </a:p>
        </p:txBody>
      </p:sp>
      <p:sp>
        <p:nvSpPr>
          <p:cNvPr id="60" name="화살표: 아래쪽 59">
            <a:extLst>
              <a:ext uri="{FF2B5EF4-FFF2-40B4-BE49-F238E27FC236}">
                <a16:creationId xmlns:a16="http://schemas.microsoft.com/office/drawing/2014/main" id="{901F09EC-4E61-A2CC-A767-F492F8D7E074}"/>
              </a:ext>
            </a:extLst>
          </p:cNvPr>
          <p:cNvSpPr/>
          <p:nvPr/>
        </p:nvSpPr>
        <p:spPr>
          <a:xfrm rot="5400000">
            <a:off x="12794392" y="1800656"/>
            <a:ext cx="391712" cy="863886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TextBox 34">
            <a:extLst>
              <a:ext uri="{FF2B5EF4-FFF2-40B4-BE49-F238E27FC236}">
                <a16:creationId xmlns:a16="http://schemas.microsoft.com/office/drawing/2014/main" id="{780A55A9-CBCA-19F2-AEC0-1E68461F6008}"/>
              </a:ext>
            </a:extLst>
          </p:cNvPr>
          <p:cNvSpPr txBox="1"/>
          <p:nvPr/>
        </p:nvSpPr>
        <p:spPr>
          <a:xfrm>
            <a:off x="13555980" y="2022765"/>
            <a:ext cx="2561642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 err="1">
                <a:latin typeface="TDTD순고딕"/>
                <a:ea typeface="TDTD순고딕"/>
                <a:cs typeface="TDTD순고딕"/>
                <a:sym typeface="TDTD순고딕"/>
              </a:rPr>
              <a:t>UART_ready</a:t>
            </a:r>
            <a:endParaRPr lang="en-US" sz="3200" b="1" spc="-46" dirty="0"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62" name="화살표: 아래쪽 61">
            <a:extLst>
              <a:ext uri="{FF2B5EF4-FFF2-40B4-BE49-F238E27FC236}">
                <a16:creationId xmlns:a16="http://schemas.microsoft.com/office/drawing/2014/main" id="{60D0DDCF-A650-665C-9A15-6131AF8E1984}"/>
              </a:ext>
            </a:extLst>
          </p:cNvPr>
          <p:cNvSpPr/>
          <p:nvPr/>
        </p:nvSpPr>
        <p:spPr>
          <a:xfrm>
            <a:off x="11255582" y="2616481"/>
            <a:ext cx="421173" cy="1612619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623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DE7E-EE89-1F86-5120-341DD973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3CF42E-A50E-5B3C-4AFD-A273303E999F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90CCDF-E729-E0F4-DA94-7AB276C2F815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9111C28-ECAF-3770-9A8B-4646798CD814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451528A-E8C4-8FDD-CF8E-7BC1B1D96B02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597A83-5E14-9407-04FD-74A8A3CD3C1B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altLang="ko-KR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Segment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</a:t>
            </a: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37F6D0D-7EA9-E729-3C33-61D466F5E27A}"/>
              </a:ext>
            </a:extLst>
          </p:cNvPr>
          <p:cNvSpPr txBox="1"/>
          <p:nvPr/>
        </p:nvSpPr>
        <p:spPr>
          <a:xfrm>
            <a:off x="2209800" y="3686851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디지털 숫자를 표시하기 위한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LED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소자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2704DF28-63EE-2444-3647-516D80D79F46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Segment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D0131F1F-B481-6CAC-AC2C-F489CCB2F1FB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86471A9-FE97-A163-DE9A-D871EAABE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F3AE3156-FF97-ABFB-0DA7-B397D0AF7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12" y="5900928"/>
            <a:ext cx="2667000" cy="243218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E7723393-1209-3985-1267-037800FDD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66" y="5900929"/>
            <a:ext cx="5897593" cy="243218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Box 34">
            <a:extLst>
              <a:ext uri="{FF2B5EF4-FFF2-40B4-BE49-F238E27FC236}">
                <a16:creationId xmlns:a16="http://schemas.microsoft.com/office/drawing/2014/main" id="{418430AA-7C9A-C8D9-5B77-5A800C312CDC}"/>
              </a:ext>
            </a:extLst>
          </p:cNvPr>
          <p:cNvSpPr txBox="1"/>
          <p:nvPr/>
        </p:nvSpPr>
        <p:spPr>
          <a:xfrm>
            <a:off x="2209800" y="4446544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A, B, C, D, E, F, G, DP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총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8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개의 신호로 각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LED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막대를 제어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AF67B78A-02D0-42EB-1D27-E8DF23D3B38C}"/>
              </a:ext>
            </a:extLst>
          </p:cNvPr>
          <p:cNvSpPr txBox="1"/>
          <p:nvPr/>
        </p:nvSpPr>
        <p:spPr>
          <a:xfrm>
            <a:off x="2208663" y="5278358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AX7035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보드에는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6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개의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segment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 합쳐진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Digital Tube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탑재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2669D042-6915-8F26-41F3-E0A0C55CECDA}"/>
              </a:ext>
            </a:extLst>
          </p:cNvPr>
          <p:cNvSpPr txBox="1"/>
          <p:nvPr/>
        </p:nvSpPr>
        <p:spPr>
          <a:xfrm>
            <a:off x="2720962" y="8614203"/>
            <a:ext cx="2764894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8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개의 제어신호</a:t>
            </a:r>
            <a:endParaRPr lang="en-US" sz="3200" b="1" spc="-46" dirty="0"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9387A50C-3E00-4F6A-63F2-2E8811E8EDA9}"/>
              </a:ext>
            </a:extLst>
          </p:cNvPr>
          <p:cNvSpPr txBox="1"/>
          <p:nvPr/>
        </p:nvSpPr>
        <p:spPr>
          <a:xfrm>
            <a:off x="7547067" y="8682436"/>
            <a:ext cx="3445261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6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개의 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segment</a:t>
            </a:r>
            <a:endParaRPr lang="en-US" sz="3200" b="1" spc="-46" dirty="0"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1" name="십자형 10">
            <a:extLst>
              <a:ext uri="{FF2B5EF4-FFF2-40B4-BE49-F238E27FC236}">
                <a16:creationId xmlns:a16="http://schemas.microsoft.com/office/drawing/2014/main" id="{D63A93AE-2651-30FE-42AD-3045B6F6BFDA}"/>
              </a:ext>
            </a:extLst>
          </p:cNvPr>
          <p:cNvSpPr/>
          <p:nvPr/>
        </p:nvSpPr>
        <p:spPr>
          <a:xfrm rot="2801258">
            <a:off x="6145205" y="8519236"/>
            <a:ext cx="706460" cy="685800"/>
          </a:xfrm>
          <a:prstGeom prst="plus">
            <a:avLst>
              <a:gd name="adj" fmla="val 4238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같음 기호 11">
            <a:extLst>
              <a:ext uri="{FF2B5EF4-FFF2-40B4-BE49-F238E27FC236}">
                <a16:creationId xmlns:a16="http://schemas.microsoft.com/office/drawing/2014/main" id="{43A4B441-16C9-A1A4-AEA8-DC998979AD0F}"/>
              </a:ext>
            </a:extLst>
          </p:cNvPr>
          <p:cNvSpPr/>
          <p:nvPr/>
        </p:nvSpPr>
        <p:spPr>
          <a:xfrm>
            <a:off x="10990053" y="8522182"/>
            <a:ext cx="1143000" cy="740174"/>
          </a:xfrm>
          <a:prstGeom prst="mathEqual">
            <a:avLst>
              <a:gd name="adj1" fmla="val 16145"/>
              <a:gd name="adj2" fmla="val 228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1AE57D5F-E585-C4F9-6A94-E3E87AF8207E}"/>
              </a:ext>
            </a:extLst>
          </p:cNvPr>
          <p:cNvSpPr txBox="1"/>
          <p:nvPr/>
        </p:nvSpPr>
        <p:spPr>
          <a:xfrm>
            <a:off x="12801600" y="8789509"/>
            <a:ext cx="483762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4400" b="1" spc="-46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48</a:t>
            </a:r>
            <a:r>
              <a:rPr lang="ko-KR" altLang="en-US" sz="4400" b="1" spc="-46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개의 제어신호 </a:t>
            </a:r>
            <a:r>
              <a:rPr lang="en-US" altLang="ko-KR" sz="4400" b="1" spc="-46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?</a:t>
            </a:r>
            <a:endParaRPr lang="en-US" sz="4400" b="1" spc="-46" dirty="0">
              <a:solidFill>
                <a:srgbClr val="FF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2424127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96E0-F6DC-8B6A-AD26-ED52D973D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1A4A3CB-B1C6-9B2A-4115-C266854705AD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E39D1A-ACF7-754F-72E9-75993760B436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94DB0D8-A03B-AC92-52D7-135744CB17CC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9D97980-A5E3-647F-6FD9-F904BBBE2C16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20EF26-EA15-19BC-C254-5645CC398271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altLang="ko-KR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Segment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</a:t>
            </a: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DA9D081B-E547-FDC1-DBAE-6A6B660F2349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Segment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887C0CF4-D67E-F1B8-692D-8F5BD8951AC2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2A7D4D5-60EF-9550-E683-B17045E9D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4E48398-38F8-DF18-ED25-C0EF4951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851" y="4229100"/>
            <a:ext cx="2667000" cy="243218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C226F551-67F2-495A-D21D-D1130CBA0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229101"/>
            <a:ext cx="5897593" cy="2432183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3B7BFEE-D59F-A321-F286-7BE9525E68F3}"/>
              </a:ext>
            </a:extLst>
          </p:cNvPr>
          <p:cNvCxnSpPr/>
          <p:nvPr/>
        </p:nvCxnSpPr>
        <p:spPr>
          <a:xfrm>
            <a:off x="7620000" y="6228536"/>
            <a:ext cx="0" cy="137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1CA7AB1-52CA-D409-2345-35CFA5481FB4}"/>
              </a:ext>
            </a:extLst>
          </p:cNvPr>
          <p:cNvCxnSpPr/>
          <p:nvPr/>
        </p:nvCxnSpPr>
        <p:spPr>
          <a:xfrm>
            <a:off x="8382000" y="6228536"/>
            <a:ext cx="0" cy="137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5BD214E-C1B5-00DD-4C63-E5A9C1E071E8}"/>
              </a:ext>
            </a:extLst>
          </p:cNvPr>
          <p:cNvCxnSpPr/>
          <p:nvPr/>
        </p:nvCxnSpPr>
        <p:spPr>
          <a:xfrm>
            <a:off x="9159922" y="6228536"/>
            <a:ext cx="0" cy="137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D22DC8A-06B6-AAA6-8D58-9536AC0CD016}"/>
              </a:ext>
            </a:extLst>
          </p:cNvPr>
          <p:cNvCxnSpPr/>
          <p:nvPr/>
        </p:nvCxnSpPr>
        <p:spPr>
          <a:xfrm>
            <a:off x="10058400" y="6228536"/>
            <a:ext cx="0" cy="137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58B6161-7253-5194-4569-72D50ECDCF72}"/>
              </a:ext>
            </a:extLst>
          </p:cNvPr>
          <p:cNvCxnSpPr/>
          <p:nvPr/>
        </p:nvCxnSpPr>
        <p:spPr>
          <a:xfrm>
            <a:off x="10896600" y="6228536"/>
            <a:ext cx="0" cy="137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BF2A568-95A2-E1BF-2B49-CCF825B3E1B9}"/>
              </a:ext>
            </a:extLst>
          </p:cNvPr>
          <p:cNvCxnSpPr/>
          <p:nvPr/>
        </p:nvCxnSpPr>
        <p:spPr>
          <a:xfrm>
            <a:off x="11658600" y="6228536"/>
            <a:ext cx="0" cy="13716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5E6386-5529-0588-166E-1E4482359139}"/>
              </a:ext>
            </a:extLst>
          </p:cNvPr>
          <p:cNvSpPr/>
          <p:nvPr/>
        </p:nvSpPr>
        <p:spPr>
          <a:xfrm>
            <a:off x="7215996" y="7555229"/>
            <a:ext cx="5029200" cy="5913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EAADBCD8-2F45-8FEC-0ADC-78110FA8733C}"/>
              </a:ext>
            </a:extLst>
          </p:cNvPr>
          <p:cNvSpPr txBox="1"/>
          <p:nvPr/>
        </p:nvSpPr>
        <p:spPr>
          <a:xfrm>
            <a:off x="8948907" y="7663531"/>
            <a:ext cx="1868081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 err="1">
                <a:latin typeface="TDTD순고딕"/>
                <a:ea typeface="TDTD순고딕"/>
                <a:cs typeface="TDTD순고딕"/>
                <a:sym typeface="TDTD순고딕"/>
              </a:rPr>
              <a:t>sel</a:t>
            </a: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[5:0]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470A25E-4635-F0B5-A7CC-8E20191596C7}"/>
              </a:ext>
            </a:extLst>
          </p:cNvPr>
          <p:cNvGrpSpPr/>
          <p:nvPr/>
        </p:nvGrpSpPr>
        <p:grpSpPr>
          <a:xfrm>
            <a:off x="2936068" y="7514287"/>
            <a:ext cx="2268634" cy="591364"/>
            <a:chOff x="2922420" y="7514287"/>
            <a:chExt cx="2268634" cy="59136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A6746B4-6C40-5420-FBF9-9F907B1A6313}"/>
                </a:ext>
              </a:extLst>
            </p:cNvPr>
            <p:cNvSpPr/>
            <p:nvPr/>
          </p:nvSpPr>
          <p:spPr>
            <a:xfrm>
              <a:off x="2922420" y="7514287"/>
              <a:ext cx="2241338" cy="5913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34">
              <a:extLst>
                <a:ext uri="{FF2B5EF4-FFF2-40B4-BE49-F238E27FC236}">
                  <a16:creationId xmlns:a16="http://schemas.microsoft.com/office/drawing/2014/main" id="{D7BD5B24-1768-4FA8-BDCF-930BA1A29354}"/>
                </a:ext>
              </a:extLst>
            </p:cNvPr>
            <p:cNvSpPr txBox="1"/>
            <p:nvPr/>
          </p:nvSpPr>
          <p:spPr>
            <a:xfrm>
              <a:off x="3322973" y="7641078"/>
              <a:ext cx="1868081" cy="4196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220"/>
                </a:lnSpc>
              </a:pPr>
              <a:r>
                <a:rPr lang="en-US" sz="3200" b="1" spc="-46" dirty="0">
                  <a:latin typeface="TDTD순고딕"/>
                  <a:ea typeface="TDTD순고딕"/>
                  <a:cs typeface="TDTD순고딕"/>
                  <a:sym typeface="TDTD순고딕"/>
                </a:rPr>
                <a:t>dig[7:0]</a:t>
              </a:r>
            </a:p>
          </p:txBody>
        </p:sp>
      </p:grp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7AB3DD7-0D62-F81A-351F-188AB1FCFC4F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025351" y="6661284"/>
            <a:ext cx="0" cy="8109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34">
            <a:extLst>
              <a:ext uri="{FF2B5EF4-FFF2-40B4-BE49-F238E27FC236}">
                <a16:creationId xmlns:a16="http://schemas.microsoft.com/office/drawing/2014/main" id="{E12102CD-9187-8D19-56AB-35B1BC8AB800}"/>
              </a:ext>
            </a:extLst>
          </p:cNvPr>
          <p:cNvSpPr txBox="1"/>
          <p:nvPr/>
        </p:nvSpPr>
        <p:spPr>
          <a:xfrm>
            <a:off x="10439400" y="8811570"/>
            <a:ext cx="7013689" cy="447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ko-KR" altLang="en-US" sz="3600" b="1" spc="-46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동적 스캐닝</a:t>
            </a:r>
            <a:r>
              <a:rPr lang="en-US" altLang="ko-KR" sz="3600" b="1" spc="-46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(Dynamic Scanning)</a:t>
            </a:r>
            <a:endParaRPr lang="en-US" sz="3600" b="1" spc="-46" dirty="0">
              <a:solidFill>
                <a:srgbClr val="FF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1" name="TextBox 34">
            <a:extLst>
              <a:ext uri="{FF2B5EF4-FFF2-40B4-BE49-F238E27FC236}">
                <a16:creationId xmlns:a16="http://schemas.microsoft.com/office/drawing/2014/main" id="{518BAE91-5E9A-E8DC-9804-BE0A012182BC}"/>
              </a:ext>
            </a:extLst>
          </p:cNvPr>
          <p:cNvSpPr txBox="1"/>
          <p:nvPr/>
        </p:nvSpPr>
        <p:spPr>
          <a:xfrm>
            <a:off x="2234651" y="8803437"/>
            <a:ext cx="6248399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“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한번에 하나의 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seg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만 킬 수 있다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!”</a:t>
            </a:r>
            <a:endParaRPr lang="en-US" sz="3200" b="1" spc="-46" dirty="0"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A2A47891-9ED6-FBBA-BC63-A96134610C22}"/>
              </a:ext>
            </a:extLst>
          </p:cNvPr>
          <p:cNvSpPr/>
          <p:nvPr/>
        </p:nvSpPr>
        <p:spPr>
          <a:xfrm>
            <a:off x="8831535" y="8695186"/>
            <a:ext cx="973300" cy="59136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996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BC97-1427-2C04-975B-07EABDA2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47C82C-E631-F647-ACE2-89C61F268B26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B1D934-AA3E-D517-3D66-6DE27C6E2B93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C2F661-8BC2-B126-2F1B-0A89D7FC5046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1DA1C40-9C8D-A2B2-D12F-7D8D45179084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98B0157-47F1-8E8E-BBC9-631EA139DDD0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Segment Controller </a:t>
            </a: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설계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BDAAFBC-57E7-7207-A582-C85991E10A23}"/>
              </a:ext>
            </a:extLst>
          </p:cNvPr>
          <p:cNvSpPr txBox="1"/>
          <p:nvPr/>
        </p:nvSpPr>
        <p:spPr>
          <a:xfrm>
            <a:off x="2209800" y="3686851"/>
            <a:ext cx="144018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</a:t>
            </a: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신호를 수신하는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Slave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블록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2B06D31-4EC6-5741-41E5-1422BB3FAEF3}"/>
              </a:ext>
            </a:extLst>
          </p:cNvPr>
          <p:cNvSpPr txBox="1"/>
          <p:nvPr/>
        </p:nvSpPr>
        <p:spPr>
          <a:xfrm>
            <a:off x="1600200" y="2762564"/>
            <a:ext cx="6248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3"/>
              </a:lnSpc>
            </a:pPr>
            <a:r>
              <a:rPr lang="en-US" sz="3200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Segment Controller </a:t>
            </a: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C1C25DB0-A243-2713-44EF-D9845CCC39BF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BF3F29D-2527-592D-D8D0-F2F1C15A8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BA63B9E0-8A50-E386-82CF-31E76D3CC05A}"/>
              </a:ext>
            </a:extLst>
          </p:cNvPr>
          <p:cNvSpPr txBox="1"/>
          <p:nvPr/>
        </p:nvSpPr>
        <p:spPr>
          <a:xfrm>
            <a:off x="2209800" y="4474726"/>
            <a:ext cx="10134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Segment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제어 신호인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dig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와 </a:t>
            </a:r>
            <a:r>
              <a:rPr lang="en-US" altLang="ko-KR" sz="2800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sel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을 내보내는 </a:t>
            </a:r>
            <a:r>
              <a:rPr lang="en-US" altLang="ko-KR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Segment </a:t>
            </a:r>
            <a:r>
              <a:rPr lang="ko-KR" altLang="en-US" sz="28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제어 블록</a:t>
            </a:r>
            <a:endParaRPr lang="en-US" sz="28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7" name="TextBox 34">
            <a:extLst>
              <a:ext uri="{FF2B5EF4-FFF2-40B4-BE49-F238E27FC236}">
                <a16:creationId xmlns:a16="http://schemas.microsoft.com/office/drawing/2014/main" id="{4A2AD263-552F-1729-D431-1FD7A28B84C4}"/>
              </a:ext>
            </a:extLst>
          </p:cNvPr>
          <p:cNvSpPr txBox="1"/>
          <p:nvPr/>
        </p:nvSpPr>
        <p:spPr>
          <a:xfrm>
            <a:off x="3200400" y="5278201"/>
            <a:ext cx="899160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=&gt; 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동적 스캐닝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+ </a:t>
            </a:r>
            <a:r>
              <a:rPr lang="ko-KR" altLang="en-US" sz="2800" b="1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입력받은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데이터를 </a:t>
            </a:r>
            <a:r>
              <a:rPr lang="en-US" altLang="ko-KR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dig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와 </a:t>
            </a:r>
            <a:r>
              <a:rPr lang="en-US" altLang="ko-KR" sz="2800" b="1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sel</a:t>
            </a:r>
            <a:r>
              <a:rPr lang="ko-KR" altLang="en-US" sz="2800" b="1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변환</a:t>
            </a:r>
            <a:endParaRPr lang="en-US" sz="2800" b="1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F2770B0-875F-7562-B435-0F848292A247}"/>
              </a:ext>
            </a:extLst>
          </p:cNvPr>
          <p:cNvCxnSpPr>
            <a:cxnSpLocks/>
          </p:cNvCxnSpPr>
          <p:nvPr/>
        </p:nvCxnSpPr>
        <p:spPr>
          <a:xfrm flipH="1">
            <a:off x="3810000" y="5829506"/>
            <a:ext cx="609600" cy="1447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4">
            <a:extLst>
              <a:ext uri="{FF2B5EF4-FFF2-40B4-BE49-F238E27FC236}">
                <a16:creationId xmlns:a16="http://schemas.microsoft.com/office/drawing/2014/main" id="{EE8212FD-1235-0089-44A5-5257D482ED00}"/>
              </a:ext>
            </a:extLst>
          </p:cNvPr>
          <p:cNvSpPr txBox="1"/>
          <p:nvPr/>
        </p:nvSpPr>
        <p:spPr>
          <a:xfrm>
            <a:off x="1600200" y="7527407"/>
            <a:ext cx="5014622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1ms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마다 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Tick 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하는 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Timer</a:t>
            </a:r>
            <a:endParaRPr lang="en-US" sz="3200" b="1" spc="-46" dirty="0"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2F942FE-B4B6-CFD5-98E3-27D09C5865C3}"/>
              </a:ext>
            </a:extLst>
          </p:cNvPr>
          <p:cNvCxnSpPr>
            <a:cxnSpLocks/>
          </p:cNvCxnSpPr>
          <p:nvPr/>
        </p:nvCxnSpPr>
        <p:spPr>
          <a:xfrm>
            <a:off x="9403876" y="5823831"/>
            <a:ext cx="806924" cy="1447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34">
            <a:extLst>
              <a:ext uri="{FF2B5EF4-FFF2-40B4-BE49-F238E27FC236}">
                <a16:creationId xmlns:a16="http://schemas.microsoft.com/office/drawing/2014/main" id="{B7D53310-42E2-F741-2CCB-A569165BE430}"/>
              </a:ext>
            </a:extLst>
          </p:cNvPr>
          <p:cNvSpPr txBox="1"/>
          <p:nvPr/>
        </p:nvSpPr>
        <p:spPr>
          <a:xfrm>
            <a:off x="7863384" y="7527407"/>
            <a:ext cx="9053015" cy="41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Binary to BCD 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변환기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(Double Dabble </a:t>
            </a:r>
            <a:r>
              <a:rPr lang="ko-KR" altLang="en-US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알고리즘</a:t>
            </a:r>
            <a:r>
              <a:rPr lang="en-US" altLang="ko-KR" sz="3200" b="1" spc="-46" dirty="0"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  <a:endParaRPr lang="en-US" sz="3200" b="1" spc="-46" dirty="0"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1437606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BD5C-92C1-41BC-3C29-C834FF4F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026764-BD6A-D608-F011-D66E8A2C9726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2BBBCD-5160-32CE-F52D-B0DD13682233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901DB26-2E4F-BF65-0817-673D7C8E8F47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BC654E0-D2CF-D4EC-F122-94190C8EA68E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56D5F3-5965-3B21-BA04-E179CEEEA0F4}"/>
              </a:ext>
            </a:extLst>
          </p:cNvPr>
          <p:cNvSpPr txBox="1"/>
          <p:nvPr/>
        </p:nvSpPr>
        <p:spPr>
          <a:xfrm>
            <a:off x="1204098" y="768158"/>
            <a:ext cx="15864702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ko-KR" altLang="en-US" sz="6000" spc="-131" dirty="0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전체 시스템 구조</a:t>
            </a:r>
            <a:endParaRPr lang="en-US" sz="6000" spc="-131" dirty="0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46" name="AutoShape 8">
            <a:extLst>
              <a:ext uri="{FF2B5EF4-FFF2-40B4-BE49-F238E27FC236}">
                <a16:creationId xmlns:a16="http://schemas.microsoft.com/office/drawing/2014/main" id="{CD496912-928F-0D72-4D7A-3E7027D53684}"/>
              </a:ext>
            </a:extLst>
          </p:cNvPr>
          <p:cNvSpPr/>
          <p:nvPr/>
        </p:nvSpPr>
        <p:spPr>
          <a:xfrm flipV="1">
            <a:off x="1028700" y="2095500"/>
            <a:ext cx="14950301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5D164C5-7B3C-1DE0-BC5B-5BDF0CBA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DF244A8A-8DCE-EF02-CF45-202BAF9DF895}"/>
              </a:ext>
            </a:extLst>
          </p:cNvPr>
          <p:cNvSpPr/>
          <p:nvPr/>
        </p:nvSpPr>
        <p:spPr>
          <a:xfrm>
            <a:off x="17344440" y="9425245"/>
            <a:ext cx="390836" cy="360666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8AB0CC6-8461-3610-A63D-9CA8F09184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177" y="2394866"/>
            <a:ext cx="17431646" cy="661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36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3474-CE89-6B23-2E6E-C95071B6A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E9EF62-1027-F671-E368-FFB1F800D22B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186BA7-FC28-552E-5987-4D1829CF8BE2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FC3D410-967D-C570-C705-9C6FBA2206A7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453BB6C3-5852-F1F9-F385-C2FAD083B0DC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D742A51-F461-771F-2913-04310FC58392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84E18E-664D-E32E-A415-351F4621FC88}"/>
              </a:ext>
            </a:extLst>
          </p:cNvPr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프로젝트 검증 흐름도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7C9E262-FD7C-9038-9C42-967DC3327048}"/>
              </a:ext>
            </a:extLst>
          </p:cNvPr>
          <p:cNvGrpSpPr/>
          <p:nvPr/>
        </p:nvGrpSpPr>
        <p:grpSpPr>
          <a:xfrm>
            <a:off x="1201954" y="3951959"/>
            <a:ext cx="3781318" cy="5126167"/>
            <a:chOff x="0" y="0"/>
            <a:chExt cx="995903" cy="135010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4462A2B-0F1B-29CC-77DB-6FA49DEA67CD}"/>
                </a:ext>
              </a:extLst>
            </p:cNvPr>
            <p:cNvSpPr/>
            <p:nvPr/>
          </p:nvSpPr>
          <p:spPr>
            <a:xfrm>
              <a:off x="0" y="0"/>
              <a:ext cx="995903" cy="1350102"/>
            </a:xfrm>
            <a:custGeom>
              <a:avLst/>
              <a:gdLst/>
              <a:ahLst/>
              <a:cxnLst/>
              <a:rect l="l" t="t" r="r" b="b"/>
              <a:pathLst>
                <a:path w="995903" h="1350102">
                  <a:moveTo>
                    <a:pt x="12284" y="0"/>
                  </a:moveTo>
                  <a:lnTo>
                    <a:pt x="983618" y="0"/>
                  </a:lnTo>
                  <a:cubicBezTo>
                    <a:pt x="990403" y="0"/>
                    <a:pt x="995903" y="5500"/>
                    <a:pt x="995903" y="12284"/>
                  </a:cubicBezTo>
                  <a:lnTo>
                    <a:pt x="995903" y="1337817"/>
                  </a:lnTo>
                  <a:cubicBezTo>
                    <a:pt x="995903" y="1341075"/>
                    <a:pt x="994608" y="1344200"/>
                    <a:pt x="992305" y="1346504"/>
                  </a:cubicBezTo>
                  <a:cubicBezTo>
                    <a:pt x="990001" y="1348807"/>
                    <a:pt x="986876" y="1350102"/>
                    <a:pt x="983618" y="1350102"/>
                  </a:cubicBezTo>
                  <a:lnTo>
                    <a:pt x="12284" y="1350102"/>
                  </a:lnTo>
                  <a:cubicBezTo>
                    <a:pt x="5500" y="1350102"/>
                    <a:pt x="0" y="1344602"/>
                    <a:pt x="0" y="1337817"/>
                  </a:cubicBezTo>
                  <a:lnTo>
                    <a:pt x="0" y="12284"/>
                  </a:lnTo>
                  <a:cubicBezTo>
                    <a:pt x="0" y="9026"/>
                    <a:pt x="1294" y="5902"/>
                    <a:pt x="3598" y="3598"/>
                  </a:cubicBezTo>
                  <a:cubicBezTo>
                    <a:pt x="5902" y="1294"/>
                    <a:pt x="9026" y="0"/>
                    <a:pt x="12284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BE6B125-F706-99BC-731D-50A6A3183B7F}"/>
                </a:ext>
              </a:extLst>
            </p:cNvPr>
            <p:cNvSpPr txBox="1"/>
            <p:nvPr/>
          </p:nvSpPr>
          <p:spPr>
            <a:xfrm>
              <a:off x="0" y="-47625"/>
              <a:ext cx="9959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D78947B-E0F6-3137-0CF6-2F318B095B08}"/>
              </a:ext>
            </a:extLst>
          </p:cNvPr>
          <p:cNvGrpSpPr/>
          <p:nvPr/>
        </p:nvGrpSpPr>
        <p:grpSpPr>
          <a:xfrm>
            <a:off x="5243715" y="3951959"/>
            <a:ext cx="3781318" cy="5126167"/>
            <a:chOff x="0" y="0"/>
            <a:chExt cx="995903" cy="1350102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CE6205A-C342-25CB-92D3-E3CCFE9C6CD4}"/>
                </a:ext>
              </a:extLst>
            </p:cNvPr>
            <p:cNvSpPr/>
            <p:nvPr/>
          </p:nvSpPr>
          <p:spPr>
            <a:xfrm>
              <a:off x="0" y="0"/>
              <a:ext cx="995903" cy="1350102"/>
            </a:xfrm>
            <a:custGeom>
              <a:avLst/>
              <a:gdLst/>
              <a:ahLst/>
              <a:cxnLst/>
              <a:rect l="l" t="t" r="r" b="b"/>
              <a:pathLst>
                <a:path w="995903" h="1350102">
                  <a:moveTo>
                    <a:pt x="12284" y="0"/>
                  </a:moveTo>
                  <a:lnTo>
                    <a:pt x="983618" y="0"/>
                  </a:lnTo>
                  <a:cubicBezTo>
                    <a:pt x="990403" y="0"/>
                    <a:pt x="995903" y="5500"/>
                    <a:pt x="995903" y="12284"/>
                  </a:cubicBezTo>
                  <a:lnTo>
                    <a:pt x="995903" y="1337817"/>
                  </a:lnTo>
                  <a:cubicBezTo>
                    <a:pt x="995903" y="1341075"/>
                    <a:pt x="994608" y="1344200"/>
                    <a:pt x="992305" y="1346504"/>
                  </a:cubicBezTo>
                  <a:cubicBezTo>
                    <a:pt x="990001" y="1348807"/>
                    <a:pt x="986876" y="1350102"/>
                    <a:pt x="983618" y="1350102"/>
                  </a:cubicBezTo>
                  <a:lnTo>
                    <a:pt x="12284" y="1350102"/>
                  </a:lnTo>
                  <a:cubicBezTo>
                    <a:pt x="5500" y="1350102"/>
                    <a:pt x="0" y="1344602"/>
                    <a:pt x="0" y="1337817"/>
                  </a:cubicBezTo>
                  <a:lnTo>
                    <a:pt x="0" y="12284"/>
                  </a:lnTo>
                  <a:cubicBezTo>
                    <a:pt x="0" y="9026"/>
                    <a:pt x="1294" y="5902"/>
                    <a:pt x="3598" y="3598"/>
                  </a:cubicBezTo>
                  <a:cubicBezTo>
                    <a:pt x="5902" y="1294"/>
                    <a:pt x="9026" y="0"/>
                    <a:pt x="12284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C9D2CCC-C662-3C64-5CBB-7AC1527D8D46}"/>
                </a:ext>
              </a:extLst>
            </p:cNvPr>
            <p:cNvSpPr txBox="1"/>
            <p:nvPr/>
          </p:nvSpPr>
          <p:spPr>
            <a:xfrm>
              <a:off x="0" y="-47625"/>
              <a:ext cx="9959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94CC3C3-9B86-0AA2-64D2-5E76FBEA529E}"/>
              </a:ext>
            </a:extLst>
          </p:cNvPr>
          <p:cNvGrpSpPr/>
          <p:nvPr/>
        </p:nvGrpSpPr>
        <p:grpSpPr>
          <a:xfrm>
            <a:off x="9282208" y="3969054"/>
            <a:ext cx="3781318" cy="5126167"/>
            <a:chOff x="0" y="0"/>
            <a:chExt cx="995903" cy="1350102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20A38B5-D6A5-1FBD-F016-D3019AD4190C}"/>
                </a:ext>
              </a:extLst>
            </p:cNvPr>
            <p:cNvSpPr/>
            <p:nvPr/>
          </p:nvSpPr>
          <p:spPr>
            <a:xfrm>
              <a:off x="0" y="0"/>
              <a:ext cx="995903" cy="1350102"/>
            </a:xfrm>
            <a:custGeom>
              <a:avLst/>
              <a:gdLst/>
              <a:ahLst/>
              <a:cxnLst/>
              <a:rect l="l" t="t" r="r" b="b"/>
              <a:pathLst>
                <a:path w="995903" h="1350102">
                  <a:moveTo>
                    <a:pt x="12284" y="0"/>
                  </a:moveTo>
                  <a:lnTo>
                    <a:pt x="983618" y="0"/>
                  </a:lnTo>
                  <a:cubicBezTo>
                    <a:pt x="990403" y="0"/>
                    <a:pt x="995903" y="5500"/>
                    <a:pt x="995903" y="12284"/>
                  </a:cubicBezTo>
                  <a:lnTo>
                    <a:pt x="995903" y="1337817"/>
                  </a:lnTo>
                  <a:cubicBezTo>
                    <a:pt x="995903" y="1341075"/>
                    <a:pt x="994608" y="1344200"/>
                    <a:pt x="992305" y="1346504"/>
                  </a:cubicBezTo>
                  <a:cubicBezTo>
                    <a:pt x="990001" y="1348807"/>
                    <a:pt x="986876" y="1350102"/>
                    <a:pt x="983618" y="1350102"/>
                  </a:cubicBezTo>
                  <a:lnTo>
                    <a:pt x="12284" y="1350102"/>
                  </a:lnTo>
                  <a:cubicBezTo>
                    <a:pt x="5500" y="1350102"/>
                    <a:pt x="0" y="1344602"/>
                    <a:pt x="0" y="1337817"/>
                  </a:cubicBezTo>
                  <a:lnTo>
                    <a:pt x="0" y="12284"/>
                  </a:lnTo>
                  <a:cubicBezTo>
                    <a:pt x="0" y="9026"/>
                    <a:pt x="1294" y="5902"/>
                    <a:pt x="3598" y="3598"/>
                  </a:cubicBezTo>
                  <a:cubicBezTo>
                    <a:pt x="5902" y="1294"/>
                    <a:pt x="9026" y="0"/>
                    <a:pt x="12284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7EBE948-AFE6-B3F4-8EE5-4B26D04E914C}"/>
                </a:ext>
              </a:extLst>
            </p:cNvPr>
            <p:cNvSpPr txBox="1"/>
            <p:nvPr/>
          </p:nvSpPr>
          <p:spPr>
            <a:xfrm>
              <a:off x="0" y="-47625"/>
              <a:ext cx="9959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E06C0F0-BF15-AD06-6DAF-B84C031E1B6C}"/>
              </a:ext>
            </a:extLst>
          </p:cNvPr>
          <p:cNvGrpSpPr/>
          <p:nvPr/>
        </p:nvGrpSpPr>
        <p:grpSpPr>
          <a:xfrm>
            <a:off x="13321123" y="3969054"/>
            <a:ext cx="3781318" cy="5126167"/>
            <a:chOff x="0" y="0"/>
            <a:chExt cx="995903" cy="1350102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7BACA1F-2058-4F60-EE0A-B4087520E9B9}"/>
                </a:ext>
              </a:extLst>
            </p:cNvPr>
            <p:cNvSpPr/>
            <p:nvPr/>
          </p:nvSpPr>
          <p:spPr>
            <a:xfrm>
              <a:off x="0" y="0"/>
              <a:ext cx="995903" cy="1350102"/>
            </a:xfrm>
            <a:custGeom>
              <a:avLst/>
              <a:gdLst/>
              <a:ahLst/>
              <a:cxnLst/>
              <a:rect l="l" t="t" r="r" b="b"/>
              <a:pathLst>
                <a:path w="995903" h="1350102">
                  <a:moveTo>
                    <a:pt x="12284" y="0"/>
                  </a:moveTo>
                  <a:lnTo>
                    <a:pt x="983618" y="0"/>
                  </a:lnTo>
                  <a:cubicBezTo>
                    <a:pt x="990403" y="0"/>
                    <a:pt x="995903" y="5500"/>
                    <a:pt x="995903" y="12284"/>
                  </a:cubicBezTo>
                  <a:lnTo>
                    <a:pt x="995903" y="1337817"/>
                  </a:lnTo>
                  <a:cubicBezTo>
                    <a:pt x="995903" y="1341075"/>
                    <a:pt x="994608" y="1344200"/>
                    <a:pt x="992305" y="1346504"/>
                  </a:cubicBezTo>
                  <a:cubicBezTo>
                    <a:pt x="990001" y="1348807"/>
                    <a:pt x="986876" y="1350102"/>
                    <a:pt x="983618" y="1350102"/>
                  </a:cubicBezTo>
                  <a:lnTo>
                    <a:pt x="12284" y="1350102"/>
                  </a:lnTo>
                  <a:cubicBezTo>
                    <a:pt x="5500" y="1350102"/>
                    <a:pt x="0" y="1344602"/>
                    <a:pt x="0" y="1337817"/>
                  </a:cubicBezTo>
                  <a:lnTo>
                    <a:pt x="0" y="12284"/>
                  </a:lnTo>
                  <a:cubicBezTo>
                    <a:pt x="0" y="9026"/>
                    <a:pt x="1294" y="5902"/>
                    <a:pt x="3598" y="3598"/>
                  </a:cubicBezTo>
                  <a:cubicBezTo>
                    <a:pt x="5902" y="1294"/>
                    <a:pt x="9026" y="0"/>
                    <a:pt x="12284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FDAA8E9-9192-DA48-B43E-74FAFAD6470F}"/>
                </a:ext>
              </a:extLst>
            </p:cNvPr>
            <p:cNvSpPr txBox="1"/>
            <p:nvPr/>
          </p:nvSpPr>
          <p:spPr>
            <a:xfrm>
              <a:off x="0" y="-47625"/>
              <a:ext cx="9959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4E25385-C53E-F9AF-1F22-9B9478B27AC0}"/>
              </a:ext>
            </a:extLst>
          </p:cNvPr>
          <p:cNvGrpSpPr/>
          <p:nvPr/>
        </p:nvGrpSpPr>
        <p:grpSpPr>
          <a:xfrm>
            <a:off x="2556592" y="3470832"/>
            <a:ext cx="1096669" cy="1007841"/>
            <a:chOff x="0" y="0"/>
            <a:chExt cx="190465" cy="17503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73773A9-4DCC-807D-E0C5-1E7190B09961}"/>
                </a:ext>
              </a:extLst>
            </p:cNvPr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3535" y="0"/>
                  </a:moveTo>
                  <a:lnTo>
                    <a:pt x="126930" y="0"/>
                  </a:lnTo>
                  <a:cubicBezTo>
                    <a:pt x="162019" y="0"/>
                    <a:pt x="190465" y="28446"/>
                    <a:pt x="190465" y="63535"/>
                  </a:cubicBezTo>
                  <a:lnTo>
                    <a:pt x="190465" y="111502"/>
                  </a:lnTo>
                  <a:cubicBezTo>
                    <a:pt x="190465" y="146592"/>
                    <a:pt x="162019" y="175038"/>
                    <a:pt x="126930" y="175038"/>
                  </a:cubicBezTo>
                  <a:lnTo>
                    <a:pt x="63535" y="175038"/>
                  </a:lnTo>
                  <a:cubicBezTo>
                    <a:pt x="28446" y="175038"/>
                    <a:pt x="0" y="146592"/>
                    <a:pt x="0" y="111502"/>
                  </a:cubicBezTo>
                  <a:lnTo>
                    <a:pt x="0" y="63535"/>
                  </a:lnTo>
                  <a:cubicBezTo>
                    <a:pt x="0" y="28446"/>
                    <a:pt x="28446" y="0"/>
                    <a:pt x="63535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724D7B9-42DA-EC31-36B9-2FA6747821AB}"/>
                </a:ext>
              </a:extLst>
            </p:cNvPr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10F688A1-64D7-7D2B-4053-BEB7B84AD727}"/>
              </a:ext>
            </a:extLst>
          </p:cNvPr>
          <p:cNvGrpSpPr/>
          <p:nvPr/>
        </p:nvGrpSpPr>
        <p:grpSpPr>
          <a:xfrm>
            <a:off x="6586039" y="3470832"/>
            <a:ext cx="1096669" cy="1007841"/>
            <a:chOff x="0" y="0"/>
            <a:chExt cx="190465" cy="175038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292FFEFF-4D28-82FD-A1DE-62A0440FA57B}"/>
                </a:ext>
              </a:extLst>
            </p:cNvPr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3535" y="0"/>
                  </a:moveTo>
                  <a:lnTo>
                    <a:pt x="126930" y="0"/>
                  </a:lnTo>
                  <a:cubicBezTo>
                    <a:pt x="162019" y="0"/>
                    <a:pt x="190465" y="28446"/>
                    <a:pt x="190465" y="63535"/>
                  </a:cubicBezTo>
                  <a:lnTo>
                    <a:pt x="190465" y="111502"/>
                  </a:lnTo>
                  <a:cubicBezTo>
                    <a:pt x="190465" y="146592"/>
                    <a:pt x="162019" y="175038"/>
                    <a:pt x="126930" y="175038"/>
                  </a:cubicBezTo>
                  <a:lnTo>
                    <a:pt x="63535" y="175038"/>
                  </a:lnTo>
                  <a:cubicBezTo>
                    <a:pt x="28446" y="175038"/>
                    <a:pt x="0" y="146592"/>
                    <a:pt x="0" y="111502"/>
                  </a:cubicBezTo>
                  <a:lnTo>
                    <a:pt x="0" y="63535"/>
                  </a:lnTo>
                  <a:cubicBezTo>
                    <a:pt x="0" y="28446"/>
                    <a:pt x="28446" y="0"/>
                    <a:pt x="63535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70D75A3-1734-DBB3-F93E-EB8B13D622CC}"/>
                </a:ext>
              </a:extLst>
            </p:cNvPr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1AF6A715-5B37-0DCA-9FC6-5343FFA9D605}"/>
              </a:ext>
            </a:extLst>
          </p:cNvPr>
          <p:cNvGrpSpPr/>
          <p:nvPr/>
        </p:nvGrpSpPr>
        <p:grpSpPr>
          <a:xfrm>
            <a:off x="10616409" y="3470832"/>
            <a:ext cx="1096669" cy="1007841"/>
            <a:chOff x="0" y="0"/>
            <a:chExt cx="190465" cy="175038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B33EC17B-8887-FAE0-474D-7D40A887D8D4}"/>
                </a:ext>
              </a:extLst>
            </p:cNvPr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3535" y="0"/>
                  </a:moveTo>
                  <a:lnTo>
                    <a:pt x="126930" y="0"/>
                  </a:lnTo>
                  <a:cubicBezTo>
                    <a:pt x="162019" y="0"/>
                    <a:pt x="190465" y="28446"/>
                    <a:pt x="190465" y="63535"/>
                  </a:cubicBezTo>
                  <a:lnTo>
                    <a:pt x="190465" y="111502"/>
                  </a:lnTo>
                  <a:cubicBezTo>
                    <a:pt x="190465" y="146592"/>
                    <a:pt x="162019" y="175038"/>
                    <a:pt x="126930" y="175038"/>
                  </a:cubicBezTo>
                  <a:lnTo>
                    <a:pt x="63535" y="175038"/>
                  </a:lnTo>
                  <a:cubicBezTo>
                    <a:pt x="28446" y="175038"/>
                    <a:pt x="0" y="146592"/>
                    <a:pt x="0" y="111502"/>
                  </a:cubicBezTo>
                  <a:lnTo>
                    <a:pt x="0" y="63535"/>
                  </a:lnTo>
                  <a:cubicBezTo>
                    <a:pt x="0" y="28446"/>
                    <a:pt x="28446" y="0"/>
                    <a:pt x="63535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381DC4ED-D315-3414-C5E1-6F3CA4DA6BDF}"/>
                </a:ext>
              </a:extLst>
            </p:cNvPr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79B07BC0-A765-AB6C-8DFE-4C688FA17CE2}"/>
              </a:ext>
            </a:extLst>
          </p:cNvPr>
          <p:cNvGrpSpPr/>
          <p:nvPr/>
        </p:nvGrpSpPr>
        <p:grpSpPr>
          <a:xfrm>
            <a:off x="14646778" y="3470832"/>
            <a:ext cx="1096669" cy="1007841"/>
            <a:chOff x="0" y="0"/>
            <a:chExt cx="190465" cy="175038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F12462FE-207C-7948-1FC3-132F5273F740}"/>
                </a:ext>
              </a:extLst>
            </p:cNvPr>
            <p:cNvSpPr/>
            <p:nvPr/>
          </p:nvSpPr>
          <p:spPr>
            <a:xfrm>
              <a:off x="0" y="0"/>
              <a:ext cx="190465" cy="175038"/>
            </a:xfrm>
            <a:custGeom>
              <a:avLst/>
              <a:gdLst/>
              <a:ahLst/>
              <a:cxnLst/>
              <a:rect l="l" t="t" r="r" b="b"/>
              <a:pathLst>
                <a:path w="190465" h="175038">
                  <a:moveTo>
                    <a:pt x="63535" y="0"/>
                  </a:moveTo>
                  <a:lnTo>
                    <a:pt x="126930" y="0"/>
                  </a:lnTo>
                  <a:cubicBezTo>
                    <a:pt x="162019" y="0"/>
                    <a:pt x="190465" y="28446"/>
                    <a:pt x="190465" y="63535"/>
                  </a:cubicBezTo>
                  <a:lnTo>
                    <a:pt x="190465" y="111502"/>
                  </a:lnTo>
                  <a:cubicBezTo>
                    <a:pt x="190465" y="146592"/>
                    <a:pt x="162019" y="175038"/>
                    <a:pt x="126930" y="175038"/>
                  </a:cubicBezTo>
                  <a:lnTo>
                    <a:pt x="63535" y="175038"/>
                  </a:lnTo>
                  <a:cubicBezTo>
                    <a:pt x="28446" y="175038"/>
                    <a:pt x="0" y="146592"/>
                    <a:pt x="0" y="111502"/>
                  </a:cubicBezTo>
                  <a:lnTo>
                    <a:pt x="0" y="63535"/>
                  </a:lnTo>
                  <a:cubicBezTo>
                    <a:pt x="0" y="28446"/>
                    <a:pt x="28446" y="0"/>
                    <a:pt x="63535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3C6563B9-9BD5-7EAD-D5CF-B2E3609FE7F2}"/>
                </a:ext>
              </a:extLst>
            </p:cNvPr>
            <p:cNvSpPr txBox="1"/>
            <p:nvPr/>
          </p:nvSpPr>
          <p:spPr>
            <a:xfrm>
              <a:off x="0" y="-47625"/>
              <a:ext cx="190465" cy="222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ADB01A90-1BB7-C77E-97CD-6D41047D2F28}"/>
              </a:ext>
            </a:extLst>
          </p:cNvPr>
          <p:cNvSpPr txBox="1"/>
          <p:nvPr/>
        </p:nvSpPr>
        <p:spPr>
          <a:xfrm>
            <a:off x="2855554" y="3593243"/>
            <a:ext cx="498746" cy="68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-79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B88E4419-EC71-7101-0031-3324D4FCAD0C}"/>
              </a:ext>
            </a:extLst>
          </p:cNvPr>
          <p:cNvSpPr txBox="1"/>
          <p:nvPr/>
        </p:nvSpPr>
        <p:spPr>
          <a:xfrm>
            <a:off x="6885001" y="3593243"/>
            <a:ext cx="498746" cy="68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-79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9F1D50E0-2297-FD58-46CB-6C69C14278AA}"/>
              </a:ext>
            </a:extLst>
          </p:cNvPr>
          <p:cNvSpPr txBox="1"/>
          <p:nvPr/>
        </p:nvSpPr>
        <p:spPr>
          <a:xfrm>
            <a:off x="10915370" y="3593243"/>
            <a:ext cx="498746" cy="68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-79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3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4F40BEE6-400E-6637-4034-4C4471EB40DA}"/>
              </a:ext>
            </a:extLst>
          </p:cNvPr>
          <p:cNvSpPr txBox="1"/>
          <p:nvPr/>
        </p:nvSpPr>
        <p:spPr>
          <a:xfrm>
            <a:off x="14945739" y="3593243"/>
            <a:ext cx="498746" cy="68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-79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4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8BA2962D-F88E-398A-B878-2B050F51300A}"/>
              </a:ext>
            </a:extLst>
          </p:cNvPr>
          <p:cNvSpPr txBox="1"/>
          <p:nvPr/>
        </p:nvSpPr>
        <p:spPr>
          <a:xfrm>
            <a:off x="1482301" y="6557537"/>
            <a:ext cx="3274692" cy="119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코드가 설계한 대로 동작하고</a:t>
            </a:r>
            <a:r>
              <a:rPr lang="en-US" altLang="ko-KR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, 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메모리와 </a:t>
            </a:r>
            <a:r>
              <a:rPr lang="en-US" altLang="ko-KR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IO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에 정확히 접근하는지 논리적 확인</a:t>
            </a:r>
            <a:endParaRPr lang="en-US" sz="2000" b="1" spc="-36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26D87FEA-DF0F-3B17-3F39-4F657443333D}"/>
              </a:ext>
            </a:extLst>
          </p:cNvPr>
          <p:cNvSpPr txBox="1"/>
          <p:nvPr/>
        </p:nvSpPr>
        <p:spPr>
          <a:xfrm>
            <a:off x="5484327" y="6557537"/>
            <a:ext cx="3274692" cy="119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동작 </a:t>
            </a:r>
            <a:r>
              <a:rPr lang="en-US" altLang="ko-KR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clk(50MHz)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에서 지각하는 신호</a:t>
            </a:r>
            <a:r>
              <a:rPr lang="en-US" altLang="ko-KR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(Violation) 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없이 안전한지 확인</a:t>
            </a:r>
            <a:endParaRPr lang="en-US" sz="2000" b="1" spc="-36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B42D2B0D-AC37-D669-83A3-5629949D7F40}"/>
              </a:ext>
            </a:extLst>
          </p:cNvPr>
          <p:cNvSpPr txBox="1"/>
          <p:nvPr/>
        </p:nvSpPr>
        <p:spPr>
          <a:xfrm>
            <a:off x="9573234" y="6515042"/>
            <a:ext cx="3274692" cy="119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실제 </a:t>
            </a:r>
            <a:r>
              <a:rPr lang="en-US" altLang="ko-KR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FPGA 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보드에 코드를 올려 내부 신호를 실시간으로 캡쳐하여 검증</a:t>
            </a:r>
            <a:endParaRPr lang="en-US" sz="2000" b="1" spc="-36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8059CB70-F1A5-E24A-9A47-6BE660054FA0}"/>
              </a:ext>
            </a:extLst>
          </p:cNvPr>
          <p:cNvSpPr txBox="1"/>
          <p:nvPr/>
        </p:nvSpPr>
        <p:spPr>
          <a:xfrm>
            <a:off x="13574436" y="6512198"/>
            <a:ext cx="3274692" cy="78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Segment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와 </a:t>
            </a:r>
            <a:r>
              <a:rPr lang="en-US" altLang="ko-KR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uart </a:t>
            </a:r>
            <a:r>
              <a:rPr lang="ko-KR" altLang="en-US" sz="20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장치를 통해 눈으로 결과값의 출력을 확인</a:t>
            </a:r>
            <a:endParaRPr lang="en-US" sz="2000" b="1" spc="-36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52" name="TextBox 47">
            <a:extLst>
              <a:ext uri="{FF2B5EF4-FFF2-40B4-BE49-F238E27FC236}">
                <a16:creationId xmlns:a16="http://schemas.microsoft.com/office/drawing/2014/main" id="{A68AC6CF-F37A-7127-9721-6C7AFA9AD17F}"/>
              </a:ext>
            </a:extLst>
          </p:cNvPr>
          <p:cNvSpPr txBox="1"/>
          <p:nvPr/>
        </p:nvSpPr>
        <p:spPr>
          <a:xfrm>
            <a:off x="1626797" y="5413617"/>
            <a:ext cx="3274692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6"/>
              </a:lnSpc>
            </a:pPr>
            <a:r>
              <a:rPr lang="en-US" sz="36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RTL</a:t>
            </a:r>
            <a:r>
              <a:rPr lang="ko-KR" altLang="en-US" sz="3600" b="1" spc="-36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시뮬레이션</a:t>
            </a:r>
            <a:endParaRPr lang="ko-KR" altLang="ko-KR" sz="3600" b="1"/>
          </a:p>
        </p:txBody>
      </p:sp>
      <p:sp>
        <p:nvSpPr>
          <p:cNvPr id="53" name="TextBox 47">
            <a:extLst>
              <a:ext uri="{FF2B5EF4-FFF2-40B4-BE49-F238E27FC236}">
                <a16:creationId xmlns:a16="http://schemas.microsoft.com/office/drawing/2014/main" id="{655A8E1D-ABE3-B38A-78D3-7479499F1CF1}"/>
              </a:ext>
            </a:extLst>
          </p:cNvPr>
          <p:cNvSpPr txBox="1"/>
          <p:nvPr/>
        </p:nvSpPr>
        <p:spPr>
          <a:xfrm>
            <a:off x="5497027" y="5404332"/>
            <a:ext cx="3274692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6"/>
              </a:lnSpc>
            </a:pPr>
            <a:r>
              <a:rPr lang="en-US" altLang="ko-KR" sz="3600" b="1" spc="-36">
                <a:solidFill>
                  <a:srgbClr val="24485E"/>
                </a:solidFill>
                <a:latin typeface="TDTD순고딕 Bold"/>
                <a:ea typeface="TDTD순고딕 Bold"/>
                <a:sym typeface="TDTD순고딕 Bold"/>
              </a:rPr>
              <a:t>STA</a:t>
            </a:r>
            <a:r>
              <a:rPr lang="ko-KR" altLang="en-US" sz="3600" b="1" spc="-36">
                <a:solidFill>
                  <a:srgbClr val="24485E"/>
                </a:solidFill>
                <a:latin typeface="TDTD순고딕 Bold"/>
                <a:ea typeface="TDTD순고딕 Bold"/>
                <a:sym typeface="TDTD순고딕 Bold"/>
              </a:rPr>
              <a:t> 타이밍 분석</a:t>
            </a:r>
            <a:endParaRPr lang="ko-KR" altLang="ko-KR" sz="3600" b="1"/>
          </a:p>
        </p:txBody>
      </p:sp>
      <p:sp>
        <p:nvSpPr>
          <p:cNvPr id="57" name="TextBox 47">
            <a:extLst>
              <a:ext uri="{FF2B5EF4-FFF2-40B4-BE49-F238E27FC236}">
                <a16:creationId xmlns:a16="http://schemas.microsoft.com/office/drawing/2014/main" id="{C8B67FC5-24BF-D4E4-ED94-6BA54ACD0D2C}"/>
              </a:ext>
            </a:extLst>
          </p:cNvPr>
          <p:cNvSpPr txBox="1"/>
          <p:nvPr/>
        </p:nvSpPr>
        <p:spPr>
          <a:xfrm>
            <a:off x="9547834" y="5413616"/>
            <a:ext cx="3274692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altLang="ko-KR" sz="3600" b="1" spc="-36">
                <a:solidFill>
                  <a:srgbClr val="24485E"/>
                </a:solidFill>
                <a:latin typeface="TDTD순고딕 Bold"/>
                <a:ea typeface="TDTD순고딕 Bold"/>
                <a:sym typeface="TDTD순고딕 Bold"/>
              </a:rPr>
              <a:t>ILA </a:t>
            </a:r>
            <a:r>
              <a:rPr lang="ko-KR" altLang="en-US" sz="3600" b="1" spc="-36">
                <a:solidFill>
                  <a:srgbClr val="24485E"/>
                </a:solidFill>
                <a:latin typeface="TDTD순고딕 Bold"/>
                <a:ea typeface="TDTD순고딕 Bold"/>
                <a:sym typeface="TDTD순고딕 Bold"/>
              </a:rPr>
              <a:t>내부 관측</a:t>
            </a:r>
            <a:endParaRPr lang="ko-KR" altLang="ko-KR" sz="3600" b="1"/>
          </a:p>
        </p:txBody>
      </p:sp>
      <p:sp>
        <p:nvSpPr>
          <p:cNvPr id="58" name="TextBox 47">
            <a:extLst>
              <a:ext uri="{FF2B5EF4-FFF2-40B4-BE49-F238E27FC236}">
                <a16:creationId xmlns:a16="http://schemas.microsoft.com/office/drawing/2014/main" id="{CA2D4AEA-0E82-3464-6C20-F985E4032C41}"/>
              </a:ext>
            </a:extLst>
          </p:cNvPr>
          <p:cNvSpPr txBox="1"/>
          <p:nvPr/>
        </p:nvSpPr>
        <p:spPr>
          <a:xfrm>
            <a:off x="13557766" y="5361573"/>
            <a:ext cx="3274692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6"/>
              </a:lnSpc>
            </a:pPr>
            <a:r>
              <a:rPr lang="ko-KR" altLang="en-US" sz="3600" b="1" spc="-36">
                <a:solidFill>
                  <a:srgbClr val="24485E"/>
                </a:solidFill>
                <a:latin typeface="TDTD순고딕 Bold"/>
                <a:ea typeface="TDTD순고딕 Bold"/>
                <a:sym typeface="TDTD순고딕 Bold"/>
              </a:rPr>
              <a:t>최종 결과 확인</a:t>
            </a:r>
            <a:endParaRPr lang="ko-KR" altLang="ko-KR" sz="3600" b="1"/>
          </a:p>
        </p:txBody>
      </p:sp>
    </p:spTree>
    <p:extLst>
      <p:ext uri="{BB962C8B-B14F-4D97-AF65-F5344CB8AC3E}">
        <p14:creationId xmlns:p14="http://schemas.microsoft.com/office/powerpoint/2010/main" val="2532961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D1B06-0579-2176-2938-62D2999C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D92E82-3008-F4B5-FA89-0212350B2A6E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E4CF0A-57C0-DAC1-7072-59E387BDA3F6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CE4B5B8-EC87-28E0-CBE2-AE2435052F55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376F3B5-F17E-2C3F-8777-1EE6101E7DB5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FF8432-95F0-E28B-C78E-9D64D3ACB506}"/>
              </a:ext>
            </a:extLst>
          </p:cNvPr>
          <p:cNvSpPr txBox="1"/>
          <p:nvPr/>
        </p:nvSpPr>
        <p:spPr>
          <a:xfrm>
            <a:off x="1612428" y="4381500"/>
            <a:ext cx="8445972" cy="2850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시뮬레이션 환경에서 다음 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2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가지 핵심 논리 검증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:</a:t>
            </a:r>
          </a:p>
          <a:p>
            <a:pPr algn="just">
              <a:lnSpc>
                <a:spcPts val="3220"/>
              </a:lnSpc>
            </a:pP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r>
              <a:rPr 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① CPU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내부 사이클 정상 동작 및 메모리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(mem)/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주변장치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(IO)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관련 설계대로 동작하는지 확인</a:t>
            </a: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r>
              <a:rPr 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②AXI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인터페이스의 읽기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(read)/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쓰기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(write)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동작시 핸그셰이크를 통한 정상적인 신호 교환 확인</a:t>
            </a: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F96A1C5-D7A7-8A58-47C8-6FC8FD30C67C}"/>
              </a:ext>
            </a:extLst>
          </p:cNvPr>
          <p:cNvSpPr txBox="1"/>
          <p:nvPr/>
        </p:nvSpPr>
        <p:spPr>
          <a:xfrm>
            <a:off x="1599728" y="2423511"/>
            <a:ext cx="6837374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1. RTL</a:t>
            </a: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시뮬레이션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E9B130-0036-0861-D78E-BB12FBF03DB8}"/>
              </a:ext>
            </a:extLst>
          </p:cNvPr>
          <p:cNvSpPr/>
          <p:nvPr/>
        </p:nvSpPr>
        <p:spPr>
          <a:xfrm>
            <a:off x="10780742" y="3924299"/>
            <a:ext cx="6333928" cy="3505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시뮬사진 첨부</a:t>
            </a:r>
          </a:p>
        </p:txBody>
      </p:sp>
      <p:pic>
        <p:nvPicPr>
          <p:cNvPr id="9" name="Picture 0">
            <a:extLst>
              <a:ext uri="{FF2B5EF4-FFF2-40B4-BE49-F238E27FC236}">
                <a16:creationId xmlns:a16="http://schemas.microsoft.com/office/drawing/2014/main" id="{CD850A2A-DBAF-E1AB-B9DD-1A3654C8A4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44200" y="3924300"/>
            <a:ext cx="6366585" cy="350519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47635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8DAF-CC1D-9118-092E-83B29EC0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44B57A-7744-1524-8A1C-E687A918D3B6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866796-4A3A-1917-FB39-E311E88F6C57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3DC3B8-7717-D3AD-A087-F7F0C0124FA8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30875E3-6CED-5304-C600-0DFEF82A5466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C149552-D6C3-C717-6FB6-050F5D62442F}"/>
              </a:ext>
            </a:extLst>
          </p:cNvPr>
          <p:cNvSpPr txBox="1"/>
          <p:nvPr/>
        </p:nvSpPr>
        <p:spPr>
          <a:xfrm>
            <a:off x="1447800" y="4832517"/>
            <a:ext cx="8445972" cy="2443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타이밍 분석 툴을 통해 다음 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2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가지 핵심 논리 검증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:</a:t>
            </a:r>
          </a:p>
          <a:p>
            <a:pPr algn="just">
              <a:lnSpc>
                <a:spcPts val="3220"/>
              </a:lnSpc>
            </a:pP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r>
              <a:rPr 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①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시스템 내 최장 데이터 경로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(Critical Path)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파악</a:t>
            </a:r>
            <a:endParaRPr lang="en-US" altLang="ko-KR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r>
              <a:rPr 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②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목표 동작 클럭 내 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Setup time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및 </a:t>
            </a:r>
            <a:r>
              <a:rPr lang="en-US" altLang="ko-KR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Hold time </a:t>
            </a:r>
            <a:r>
              <a:rPr lang="ko-KR" altLang="en-US" sz="24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위반 없는 안정적인 동작 확인</a:t>
            </a:r>
            <a:endParaRPr lang="en-US" sz="24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1B8A926-980E-CA36-CC25-45184EAFEBD0}"/>
              </a:ext>
            </a:extLst>
          </p:cNvPr>
          <p:cNvSpPr txBox="1"/>
          <p:nvPr/>
        </p:nvSpPr>
        <p:spPr>
          <a:xfrm>
            <a:off x="1447800" y="1734459"/>
            <a:ext cx="7391400" cy="229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2. STA </a:t>
            </a: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동작 속도 및 안정성 확인 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1472DF-5F93-0B6D-A299-BE552D907B7D}"/>
              </a:ext>
            </a:extLst>
          </p:cNvPr>
          <p:cNvSpPr/>
          <p:nvPr/>
        </p:nvSpPr>
        <p:spPr>
          <a:xfrm>
            <a:off x="10281419" y="4457700"/>
            <a:ext cx="7086600" cy="31242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STA</a:t>
            </a:r>
            <a:r>
              <a:rPr lang="ko-KR" altLang="en-US">
                <a:solidFill>
                  <a:schemeClr val="tx1"/>
                </a:solidFill>
              </a:rPr>
              <a:t>사진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533B85-FEDE-A644-6B98-BDB6E761FF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68" t="1" r="38734" b="9808"/>
          <a:stretch>
            <a:fillRect/>
          </a:stretch>
        </p:blipFill>
        <p:spPr>
          <a:xfrm>
            <a:off x="10322309" y="4940842"/>
            <a:ext cx="7004819" cy="215791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043433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CF3A-1922-223B-5C20-73A786891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A9880D-4AF3-9BAE-AFDE-6DCC90AB3E89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8F89C15-0DF5-10F4-320E-0FF7A6D8E6BB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2391B0D-891D-A609-A9BD-06196B569254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AF7F1B4C-1940-C831-BE6D-F413DB1697C9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5E1BD7C-E0F7-5E31-5EE5-22015BAEBF0F}"/>
              </a:ext>
            </a:extLst>
          </p:cNvPr>
          <p:cNvGrpSpPr/>
          <p:nvPr/>
        </p:nvGrpSpPr>
        <p:grpSpPr>
          <a:xfrm>
            <a:off x="2197764" y="3761427"/>
            <a:ext cx="3464913" cy="740304"/>
            <a:chOff x="0" y="0"/>
            <a:chExt cx="641784" cy="13712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0BE29A1-4100-942A-F173-C2C2B9647AE0}"/>
                </a:ext>
              </a:extLst>
            </p:cNvPr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0DC7ED4-C709-EB74-F055-17CC94149B0C}"/>
                </a:ext>
              </a:extLst>
            </p:cNvPr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57CA410-09AB-5573-266D-08CA9BC4207B}"/>
              </a:ext>
            </a:extLst>
          </p:cNvPr>
          <p:cNvGrpSpPr/>
          <p:nvPr/>
        </p:nvGrpSpPr>
        <p:grpSpPr>
          <a:xfrm>
            <a:off x="7411543" y="3797104"/>
            <a:ext cx="3464913" cy="740304"/>
            <a:chOff x="0" y="0"/>
            <a:chExt cx="641784" cy="13712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284947D-54B0-87E6-4766-9B4B2C3783A9}"/>
                </a:ext>
              </a:extLst>
            </p:cNvPr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8198FAC-160E-1105-98E6-17F127B23274}"/>
                </a:ext>
              </a:extLst>
            </p:cNvPr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1FDC153-C155-D098-7755-F8B54D33B485}"/>
              </a:ext>
            </a:extLst>
          </p:cNvPr>
          <p:cNvGrpSpPr/>
          <p:nvPr/>
        </p:nvGrpSpPr>
        <p:grpSpPr>
          <a:xfrm>
            <a:off x="12695732" y="3797104"/>
            <a:ext cx="3464913" cy="740304"/>
            <a:chOff x="0" y="0"/>
            <a:chExt cx="641784" cy="13712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DDF7598-F7B6-C230-6698-342D0B3BD124}"/>
                </a:ext>
              </a:extLst>
            </p:cNvPr>
            <p:cNvSpPr/>
            <p:nvPr/>
          </p:nvSpPr>
          <p:spPr>
            <a:xfrm>
              <a:off x="0" y="0"/>
              <a:ext cx="641784" cy="137122"/>
            </a:xfrm>
            <a:custGeom>
              <a:avLst/>
              <a:gdLst/>
              <a:ahLst/>
              <a:cxnLst/>
              <a:rect l="l" t="t" r="r" b="b"/>
              <a:pathLst>
                <a:path w="641784" h="137122">
                  <a:moveTo>
                    <a:pt x="20109" y="0"/>
                  </a:moveTo>
                  <a:lnTo>
                    <a:pt x="621675" y="0"/>
                  </a:lnTo>
                  <a:cubicBezTo>
                    <a:pt x="632781" y="0"/>
                    <a:pt x="641784" y="9003"/>
                    <a:pt x="641784" y="20109"/>
                  </a:cubicBezTo>
                  <a:lnTo>
                    <a:pt x="641784" y="117012"/>
                  </a:lnTo>
                  <a:cubicBezTo>
                    <a:pt x="641784" y="122346"/>
                    <a:pt x="639665" y="127461"/>
                    <a:pt x="635894" y="131232"/>
                  </a:cubicBezTo>
                  <a:cubicBezTo>
                    <a:pt x="632123" y="135003"/>
                    <a:pt x="627008" y="137122"/>
                    <a:pt x="621675" y="137122"/>
                  </a:cubicBezTo>
                  <a:lnTo>
                    <a:pt x="20109" y="137122"/>
                  </a:lnTo>
                  <a:cubicBezTo>
                    <a:pt x="14776" y="137122"/>
                    <a:pt x="9661" y="135003"/>
                    <a:pt x="5890" y="131232"/>
                  </a:cubicBezTo>
                  <a:cubicBezTo>
                    <a:pt x="2119" y="127461"/>
                    <a:pt x="0" y="122346"/>
                    <a:pt x="0" y="117012"/>
                  </a:cubicBezTo>
                  <a:lnTo>
                    <a:pt x="0" y="20109"/>
                  </a:lnTo>
                  <a:cubicBezTo>
                    <a:pt x="0" y="14776"/>
                    <a:pt x="2119" y="9661"/>
                    <a:pt x="5890" y="5890"/>
                  </a:cubicBezTo>
                  <a:cubicBezTo>
                    <a:pt x="9661" y="2119"/>
                    <a:pt x="14776" y="0"/>
                    <a:pt x="20109" y="0"/>
                  </a:cubicBezTo>
                  <a:close/>
                </a:path>
              </a:pathLst>
            </a:custGeom>
            <a:solidFill>
              <a:srgbClr val="24485E"/>
            </a:solidFill>
            <a:ln w="19050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91742CF3-2B2A-4DFE-C9B1-343164C225CB}"/>
                </a:ext>
              </a:extLst>
            </p:cNvPr>
            <p:cNvSpPr txBox="1"/>
            <p:nvPr/>
          </p:nvSpPr>
          <p:spPr>
            <a:xfrm>
              <a:off x="0" y="-47625"/>
              <a:ext cx="641784" cy="184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9B8192F-17EB-AFE2-0611-463C13A8C8ED}"/>
              </a:ext>
            </a:extLst>
          </p:cNvPr>
          <p:cNvGrpSpPr/>
          <p:nvPr/>
        </p:nvGrpSpPr>
        <p:grpSpPr>
          <a:xfrm>
            <a:off x="1001806" y="7643559"/>
            <a:ext cx="16266660" cy="1445701"/>
            <a:chOff x="0" y="0"/>
            <a:chExt cx="21688880" cy="1927601"/>
          </a:xfrm>
        </p:grpSpPr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0489AC82-F5BD-1271-1044-0D91DF92C8F0}"/>
                </a:ext>
              </a:extLst>
            </p:cNvPr>
            <p:cNvGrpSpPr/>
            <p:nvPr/>
          </p:nvGrpSpPr>
          <p:grpSpPr>
            <a:xfrm>
              <a:off x="261477" y="138932"/>
              <a:ext cx="21211620" cy="1589529"/>
              <a:chOff x="0" y="0"/>
              <a:chExt cx="4189950" cy="313981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7DA2B59-A6E7-20A1-B82A-89FFE17783F0}"/>
                  </a:ext>
                </a:extLst>
              </p:cNvPr>
              <p:cNvSpPr/>
              <p:nvPr/>
            </p:nvSpPr>
            <p:spPr>
              <a:xfrm>
                <a:off x="0" y="0"/>
                <a:ext cx="4189950" cy="313981"/>
              </a:xfrm>
              <a:custGeom>
                <a:avLst/>
                <a:gdLst/>
                <a:ahLst/>
                <a:cxnLst/>
                <a:rect l="l" t="t" r="r" b="b"/>
                <a:pathLst>
                  <a:path w="4189950" h="313981">
                    <a:moveTo>
                      <a:pt x="13626" y="0"/>
                    </a:moveTo>
                    <a:lnTo>
                      <a:pt x="4176324" y="0"/>
                    </a:lnTo>
                    <a:cubicBezTo>
                      <a:pt x="4183849" y="0"/>
                      <a:pt x="4189950" y="6101"/>
                      <a:pt x="4189950" y="13626"/>
                    </a:cubicBezTo>
                    <a:lnTo>
                      <a:pt x="4189950" y="300355"/>
                    </a:lnTo>
                    <a:cubicBezTo>
                      <a:pt x="4189950" y="307880"/>
                      <a:pt x="4183849" y="313981"/>
                      <a:pt x="4176324" y="313981"/>
                    </a:cubicBezTo>
                    <a:lnTo>
                      <a:pt x="13626" y="313981"/>
                    </a:lnTo>
                    <a:cubicBezTo>
                      <a:pt x="6101" y="313981"/>
                      <a:pt x="0" y="307880"/>
                      <a:pt x="0" y="300355"/>
                    </a:cubicBezTo>
                    <a:lnTo>
                      <a:pt x="0" y="13626"/>
                    </a:lnTo>
                    <a:cubicBezTo>
                      <a:pt x="0" y="6101"/>
                      <a:pt x="6101" y="0"/>
                      <a:pt x="13626" y="0"/>
                    </a:cubicBezTo>
                    <a:close/>
                  </a:path>
                </a:pathLst>
              </a:custGeom>
              <a:ln w="19050" cap="rnd">
                <a:solidFill>
                  <a:srgbClr val="24485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C513109-1BE1-EBAB-2FB4-4BC9E4C7645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189950" cy="3616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F96FF64C-1053-AA50-A280-FDB0522174E1}"/>
                </a:ext>
              </a:extLst>
            </p:cNvPr>
            <p:cNvGrpSpPr/>
            <p:nvPr/>
          </p:nvGrpSpPr>
          <p:grpSpPr>
            <a:xfrm rot="-10800000">
              <a:off x="10655701" y="1603964"/>
              <a:ext cx="423172" cy="323637"/>
              <a:chOff x="0" y="0"/>
              <a:chExt cx="374454" cy="286378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FD9010CC-F036-E8D0-8C2C-408C72B52A9E}"/>
                  </a:ext>
                </a:extLst>
              </p:cNvPr>
              <p:cNvSpPr/>
              <p:nvPr/>
            </p:nvSpPr>
            <p:spPr>
              <a:xfrm>
                <a:off x="0" y="0"/>
                <a:ext cx="374454" cy="286378"/>
              </a:xfrm>
              <a:custGeom>
                <a:avLst/>
                <a:gdLst/>
                <a:ahLst/>
                <a:cxnLst/>
                <a:rect l="l" t="t" r="r" b="b"/>
                <a:pathLst>
                  <a:path w="374454" h="286378">
                    <a:moveTo>
                      <a:pt x="187227" y="0"/>
                    </a:moveTo>
                    <a:lnTo>
                      <a:pt x="374454" y="286378"/>
                    </a:lnTo>
                    <a:lnTo>
                      <a:pt x="0" y="286378"/>
                    </a:lnTo>
                    <a:lnTo>
                      <a:pt x="187227" y="0"/>
                    </a:lnTo>
                    <a:close/>
                  </a:path>
                </a:pathLst>
              </a:custGeom>
              <a:solidFill>
                <a:srgbClr val="FBFCF8"/>
              </a:solidFill>
              <a:ln w="19050" cap="sq">
                <a:solidFill>
                  <a:srgbClr val="24485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797AA9FF-7BB0-17A6-F549-14B410F33D5A}"/>
                  </a:ext>
                </a:extLst>
              </p:cNvPr>
              <p:cNvSpPr txBox="1"/>
              <p:nvPr/>
            </p:nvSpPr>
            <p:spPr>
              <a:xfrm>
                <a:off x="58508" y="85336"/>
                <a:ext cx="257437" cy="1805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DBB34D4F-6959-0B64-609C-C792E31576AB}"/>
                </a:ext>
              </a:extLst>
            </p:cNvPr>
            <p:cNvGrpSpPr/>
            <p:nvPr/>
          </p:nvGrpSpPr>
          <p:grpSpPr>
            <a:xfrm>
              <a:off x="10495280" y="1453662"/>
              <a:ext cx="698320" cy="187571"/>
              <a:chOff x="0" y="0"/>
              <a:chExt cx="137940" cy="37051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27B97C43-0634-9881-014B-DCB4286077F2}"/>
                  </a:ext>
                </a:extLst>
              </p:cNvPr>
              <p:cNvSpPr/>
              <p:nvPr/>
            </p:nvSpPr>
            <p:spPr>
              <a:xfrm>
                <a:off x="0" y="0"/>
                <a:ext cx="137940" cy="37051"/>
              </a:xfrm>
              <a:custGeom>
                <a:avLst/>
                <a:gdLst/>
                <a:ahLst/>
                <a:cxnLst/>
                <a:rect l="l" t="t" r="r" b="b"/>
                <a:pathLst>
                  <a:path w="137940" h="37051">
                    <a:moveTo>
                      <a:pt x="0" y="0"/>
                    </a:moveTo>
                    <a:lnTo>
                      <a:pt x="137940" y="0"/>
                    </a:lnTo>
                    <a:lnTo>
                      <a:pt x="137940" y="37051"/>
                    </a:lnTo>
                    <a:lnTo>
                      <a:pt x="0" y="37051"/>
                    </a:lnTo>
                    <a:close/>
                  </a:path>
                </a:pathLst>
              </a:custGeom>
              <a:solidFill>
                <a:srgbClr val="FBFC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112819D4-D298-E316-223B-D7F8D0542EA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7940" cy="84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59E2394E-76B4-CB78-8CF5-158EAFCAE5B4}"/>
                </a:ext>
              </a:extLst>
            </p:cNvPr>
            <p:cNvGrpSpPr/>
            <p:nvPr/>
          </p:nvGrpSpPr>
          <p:grpSpPr>
            <a:xfrm>
              <a:off x="0" y="0"/>
              <a:ext cx="21688880" cy="1371631"/>
              <a:chOff x="0" y="0"/>
              <a:chExt cx="4284223" cy="270939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EC755299-3273-99B0-1A70-9E5231B8503D}"/>
                  </a:ext>
                </a:extLst>
              </p:cNvPr>
              <p:cNvSpPr/>
              <p:nvPr/>
            </p:nvSpPr>
            <p:spPr>
              <a:xfrm>
                <a:off x="0" y="0"/>
                <a:ext cx="4284223" cy="270939"/>
              </a:xfrm>
              <a:custGeom>
                <a:avLst/>
                <a:gdLst/>
                <a:ahLst/>
                <a:cxnLst/>
                <a:rect l="l" t="t" r="r" b="b"/>
                <a:pathLst>
                  <a:path w="4284223" h="270939">
                    <a:moveTo>
                      <a:pt x="0" y="0"/>
                    </a:moveTo>
                    <a:lnTo>
                      <a:pt x="4284223" y="0"/>
                    </a:lnTo>
                    <a:lnTo>
                      <a:pt x="4284223" y="270939"/>
                    </a:lnTo>
                    <a:lnTo>
                      <a:pt x="0" y="270939"/>
                    </a:lnTo>
                    <a:close/>
                  </a:path>
                </a:pathLst>
              </a:custGeom>
              <a:solidFill>
                <a:srgbClr val="FBFCF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7E0416A3-F836-3436-7076-30CDE66A7BE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4223" cy="318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1" name="AutoShape 31">
            <a:extLst>
              <a:ext uri="{FF2B5EF4-FFF2-40B4-BE49-F238E27FC236}">
                <a16:creationId xmlns:a16="http://schemas.microsoft.com/office/drawing/2014/main" id="{A57BE421-6081-360F-3E88-83F53DB3F0E4}"/>
              </a:ext>
            </a:extLst>
          </p:cNvPr>
          <p:cNvSpPr/>
          <p:nvPr/>
        </p:nvSpPr>
        <p:spPr>
          <a:xfrm flipV="1">
            <a:off x="6500901" y="4126058"/>
            <a:ext cx="0" cy="3281529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ED498356-59D9-057D-64FD-E81052ECC0FE}"/>
              </a:ext>
            </a:extLst>
          </p:cNvPr>
          <p:cNvSpPr/>
          <p:nvPr/>
        </p:nvSpPr>
        <p:spPr>
          <a:xfrm flipV="1">
            <a:off x="11785110" y="4126057"/>
            <a:ext cx="0" cy="3281529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58350CB-B2AA-3031-9675-CD0B836A2B23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47514ACF-CF52-4DC8-0975-28B72A7187D5}"/>
              </a:ext>
            </a:extLst>
          </p:cNvPr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실제 하드웨어 적용 및 최종 확인</a:t>
            </a:r>
            <a:endParaRPr lang="en-US" altLang="ko-KR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F957389C-B287-01C7-5843-8156C7900CB0}"/>
              </a:ext>
            </a:extLst>
          </p:cNvPr>
          <p:cNvSpPr txBox="1"/>
          <p:nvPr/>
        </p:nvSpPr>
        <p:spPr>
          <a:xfrm>
            <a:off x="1059437" y="7401394"/>
            <a:ext cx="5286157" cy="6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ctr">
              <a:lnSpc>
                <a:spcPts val="2775"/>
              </a:lnSpc>
              <a:buFontTx/>
              <a:buChar char="-"/>
            </a:pP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내부 </a:t>
            </a:r>
            <a:r>
              <a:rPr lang="en-US" altLang="ko-KR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버스 통신 실시간 캡쳐</a:t>
            </a:r>
            <a:endParaRPr lang="en-US" altLang="ko-KR" sz="20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285750" indent="-285750" algn="ctr">
              <a:lnSpc>
                <a:spcPts val="2775"/>
              </a:lnSpc>
              <a:buFontTx/>
              <a:buChar char="-"/>
            </a:pPr>
            <a:r>
              <a:rPr 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RTL 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시뮬레이션과 동일한 정상 파형 확인</a:t>
            </a:r>
            <a:endParaRPr lang="en-US" sz="20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F96B112E-533D-4347-36E4-56F0E7C2A832}"/>
              </a:ext>
            </a:extLst>
          </p:cNvPr>
          <p:cNvSpPr txBox="1"/>
          <p:nvPr/>
        </p:nvSpPr>
        <p:spPr>
          <a:xfrm>
            <a:off x="6467334" y="7387026"/>
            <a:ext cx="5286157" cy="6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-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최종 연산 결과 시각적 출력</a:t>
            </a:r>
            <a:endParaRPr lang="en-US" altLang="ko-KR" sz="20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75"/>
              </a:lnSpc>
            </a:pPr>
            <a:r>
              <a:rPr 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-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디스플레이 하드웨어 구동 정상 확인</a:t>
            </a:r>
            <a:endParaRPr lang="en-US" sz="20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3D89FB98-B29A-421F-F8CB-5C2F10035CA1}"/>
              </a:ext>
            </a:extLst>
          </p:cNvPr>
          <p:cNvSpPr txBox="1"/>
          <p:nvPr/>
        </p:nvSpPr>
        <p:spPr>
          <a:xfrm>
            <a:off x="11831550" y="7398591"/>
            <a:ext cx="5286157" cy="69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-FPGA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와 </a:t>
            </a:r>
            <a:r>
              <a:rPr lang="en-US" altLang="ko-KR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PC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간 직렬통신 성공</a:t>
            </a:r>
            <a:endParaRPr lang="en-US" altLang="ko-KR" sz="20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ctr">
              <a:lnSpc>
                <a:spcPts val="2775"/>
              </a:lnSpc>
            </a:pPr>
            <a:r>
              <a:rPr 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-</a:t>
            </a:r>
            <a:r>
              <a:rPr lang="ko-KR" altLang="en-US" sz="2000" spc="-35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보드 출력과 동일한 데이터 수신 확인</a:t>
            </a:r>
            <a:endParaRPr lang="en-US" sz="2000" spc="-35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9F7E8EA-67BB-4663-D012-0121A9A98EE6}"/>
              </a:ext>
            </a:extLst>
          </p:cNvPr>
          <p:cNvSpPr txBox="1"/>
          <p:nvPr/>
        </p:nvSpPr>
        <p:spPr>
          <a:xfrm>
            <a:off x="2132388" y="3922984"/>
            <a:ext cx="3450189" cy="44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ILA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978BC0DF-F507-6807-1015-14690365A614}"/>
              </a:ext>
            </a:extLst>
          </p:cNvPr>
          <p:cNvSpPr txBox="1"/>
          <p:nvPr/>
        </p:nvSpPr>
        <p:spPr>
          <a:xfrm>
            <a:off x="7418906" y="3922984"/>
            <a:ext cx="3450189" cy="44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Seg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2ED9B00B-FB6D-E29C-C917-32C2FFF55EE7}"/>
              </a:ext>
            </a:extLst>
          </p:cNvPr>
          <p:cNvSpPr txBox="1"/>
          <p:nvPr/>
        </p:nvSpPr>
        <p:spPr>
          <a:xfrm>
            <a:off x="12707419" y="3922984"/>
            <a:ext cx="3450189" cy="44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1" spc="-52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Uart</a:t>
            </a:r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AA9C5537-D5B7-4266-4756-8743F3BBB4DE}"/>
              </a:ext>
            </a:extLst>
          </p:cNvPr>
          <p:cNvSpPr/>
          <p:nvPr/>
        </p:nvSpPr>
        <p:spPr>
          <a:xfrm>
            <a:off x="1387887" y="7923541"/>
            <a:ext cx="651162" cy="695416"/>
          </a:xfrm>
          <a:custGeom>
            <a:avLst/>
            <a:gdLst/>
            <a:ahLst/>
            <a:cxnLst/>
            <a:rect l="l" t="t" r="r" b="b"/>
            <a:pathLst>
              <a:path w="651162" h="695416">
                <a:moveTo>
                  <a:pt x="0" y="0"/>
                </a:moveTo>
                <a:lnTo>
                  <a:pt x="651163" y="0"/>
                </a:lnTo>
                <a:lnTo>
                  <a:pt x="651163" y="695416"/>
                </a:lnTo>
                <a:lnTo>
                  <a:pt x="0" y="6954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965B33C6-4179-2688-808D-0992571E1A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82891" y="4758852"/>
            <a:ext cx="3867966" cy="2356118"/>
          </a:xfrm>
          <a:prstGeom prst="rect">
            <a:avLst/>
          </a:prstGeom>
          <a:noFill/>
          <a:ln w="76200" cmpd="sng">
            <a:solidFill>
              <a:schemeClr val="tx2">
                <a:alpha val="50000"/>
              </a:schemeClr>
            </a:solidFill>
          </a:ln>
          <a:effectLst/>
        </p:spPr>
      </p:pic>
      <p:pic>
        <p:nvPicPr>
          <p:cNvPr id="50" name="Picture 4">
            <a:extLst>
              <a:ext uri="{FF2B5EF4-FFF2-40B4-BE49-F238E27FC236}">
                <a16:creationId xmlns:a16="http://schemas.microsoft.com/office/drawing/2014/main" id="{B27FA0E8-00E5-212B-722E-5335A422698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00169" y="4784997"/>
            <a:ext cx="3904204" cy="2354440"/>
          </a:xfrm>
          <a:prstGeom prst="rect">
            <a:avLst/>
          </a:prstGeom>
          <a:noFill/>
          <a:ln w="76200">
            <a:solidFill>
              <a:schemeClr val="tx2">
                <a:alpha val="50000"/>
              </a:schemeClr>
            </a:solidFill>
          </a:ln>
          <a:effectLst/>
        </p:spPr>
      </p:pic>
      <p:pic>
        <p:nvPicPr>
          <p:cNvPr id="51" name="Picture 6">
            <a:extLst>
              <a:ext uri="{FF2B5EF4-FFF2-40B4-BE49-F238E27FC236}">
                <a16:creationId xmlns:a16="http://schemas.microsoft.com/office/drawing/2014/main" id="{DF3B3A57-000B-16B5-7D21-DBC297FE1F7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24835" y="4794529"/>
            <a:ext cx="3899585" cy="2371701"/>
          </a:xfrm>
          <a:prstGeom prst="rect">
            <a:avLst/>
          </a:prstGeom>
          <a:noFill/>
          <a:ln w="76200">
            <a:solidFill>
              <a:schemeClr val="tx2">
                <a:alpha val="50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113900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98EE-B301-C31A-2E6E-7F9F1C9C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451DD8-2C13-78F9-2C9D-AA64CE35BEBD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D9B14B-27DB-E975-DC95-41CE8FBAA9F6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0ED717A-E83B-9773-17CC-A5C402DD5594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4BB1AD1C-68D9-668F-8731-4845D961AA60}"/>
              </a:ext>
            </a:extLst>
          </p:cNvPr>
          <p:cNvSpPr/>
          <p:nvPr/>
        </p:nvSpPr>
        <p:spPr>
          <a:xfrm flipV="1">
            <a:off x="1201954" y="3070413"/>
            <a:ext cx="15879803" cy="0"/>
          </a:xfrm>
          <a:prstGeom prst="line">
            <a:avLst/>
          </a:prstGeom>
          <a:ln w="38100" cap="rnd">
            <a:solidFill>
              <a:srgbClr val="2448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6D79AE1-AA49-E6AD-5DD6-2163BA6553EF}"/>
              </a:ext>
            </a:extLst>
          </p:cNvPr>
          <p:cNvGrpSpPr/>
          <p:nvPr/>
        </p:nvGrpSpPr>
        <p:grpSpPr>
          <a:xfrm>
            <a:off x="1201954" y="3951959"/>
            <a:ext cx="7838659" cy="5126167"/>
            <a:chOff x="0" y="0"/>
            <a:chExt cx="2064503" cy="135010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8CA57E1-EFC3-3511-2EC1-DC48B3CDBAEB}"/>
                </a:ext>
              </a:extLst>
            </p:cNvPr>
            <p:cNvSpPr/>
            <p:nvPr/>
          </p:nvSpPr>
          <p:spPr>
            <a:xfrm>
              <a:off x="0" y="0"/>
              <a:ext cx="2064503" cy="1350102"/>
            </a:xfrm>
            <a:custGeom>
              <a:avLst/>
              <a:gdLst/>
              <a:ahLst/>
              <a:cxnLst/>
              <a:rect l="l" t="t" r="r" b="b"/>
              <a:pathLst>
                <a:path w="2064503" h="1350102">
                  <a:moveTo>
                    <a:pt x="5926" y="0"/>
                  </a:moveTo>
                  <a:lnTo>
                    <a:pt x="2058577" y="0"/>
                  </a:lnTo>
                  <a:cubicBezTo>
                    <a:pt x="2060148" y="0"/>
                    <a:pt x="2061656" y="624"/>
                    <a:pt x="2062767" y="1736"/>
                  </a:cubicBezTo>
                  <a:cubicBezTo>
                    <a:pt x="2063878" y="2847"/>
                    <a:pt x="2064503" y="4354"/>
                    <a:pt x="2064503" y="5926"/>
                  </a:cubicBezTo>
                  <a:lnTo>
                    <a:pt x="2064503" y="1344176"/>
                  </a:lnTo>
                  <a:cubicBezTo>
                    <a:pt x="2064503" y="1347449"/>
                    <a:pt x="2061850" y="1350102"/>
                    <a:pt x="2058577" y="1350102"/>
                  </a:cubicBezTo>
                  <a:lnTo>
                    <a:pt x="5926" y="1350102"/>
                  </a:lnTo>
                  <a:cubicBezTo>
                    <a:pt x="2653" y="1350102"/>
                    <a:pt x="0" y="1347449"/>
                    <a:pt x="0" y="1344176"/>
                  </a:cubicBezTo>
                  <a:lnTo>
                    <a:pt x="0" y="5926"/>
                  </a:lnTo>
                  <a:cubicBezTo>
                    <a:pt x="0" y="4354"/>
                    <a:pt x="624" y="2847"/>
                    <a:pt x="1736" y="1736"/>
                  </a:cubicBezTo>
                  <a:cubicBezTo>
                    <a:pt x="2847" y="624"/>
                    <a:pt x="4354" y="0"/>
                    <a:pt x="5926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5CF56BE-09E2-82E0-38AC-888E7A8EBD7A}"/>
                </a:ext>
              </a:extLst>
            </p:cNvPr>
            <p:cNvSpPr txBox="1"/>
            <p:nvPr/>
          </p:nvSpPr>
          <p:spPr>
            <a:xfrm>
              <a:off x="0" y="-47625"/>
              <a:ext cx="20645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4B4404F-4297-1769-C41C-8EC792333163}"/>
              </a:ext>
            </a:extLst>
          </p:cNvPr>
          <p:cNvGrpSpPr/>
          <p:nvPr/>
        </p:nvGrpSpPr>
        <p:grpSpPr>
          <a:xfrm>
            <a:off x="9260890" y="3951959"/>
            <a:ext cx="7838659" cy="5126167"/>
            <a:chOff x="0" y="0"/>
            <a:chExt cx="2064503" cy="135010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4F3A3C5-07CC-A048-0335-33F55D7F1998}"/>
                </a:ext>
              </a:extLst>
            </p:cNvPr>
            <p:cNvSpPr/>
            <p:nvPr/>
          </p:nvSpPr>
          <p:spPr>
            <a:xfrm>
              <a:off x="0" y="0"/>
              <a:ext cx="2064503" cy="1350102"/>
            </a:xfrm>
            <a:custGeom>
              <a:avLst/>
              <a:gdLst/>
              <a:ahLst/>
              <a:cxnLst/>
              <a:rect l="l" t="t" r="r" b="b"/>
              <a:pathLst>
                <a:path w="2064503" h="1350102">
                  <a:moveTo>
                    <a:pt x="5926" y="0"/>
                  </a:moveTo>
                  <a:lnTo>
                    <a:pt x="2058577" y="0"/>
                  </a:lnTo>
                  <a:cubicBezTo>
                    <a:pt x="2060148" y="0"/>
                    <a:pt x="2061656" y="624"/>
                    <a:pt x="2062767" y="1736"/>
                  </a:cubicBezTo>
                  <a:cubicBezTo>
                    <a:pt x="2063878" y="2847"/>
                    <a:pt x="2064503" y="4354"/>
                    <a:pt x="2064503" y="5926"/>
                  </a:cubicBezTo>
                  <a:lnTo>
                    <a:pt x="2064503" y="1344176"/>
                  </a:lnTo>
                  <a:cubicBezTo>
                    <a:pt x="2064503" y="1347449"/>
                    <a:pt x="2061850" y="1350102"/>
                    <a:pt x="2058577" y="1350102"/>
                  </a:cubicBezTo>
                  <a:lnTo>
                    <a:pt x="5926" y="1350102"/>
                  </a:lnTo>
                  <a:cubicBezTo>
                    <a:pt x="2653" y="1350102"/>
                    <a:pt x="0" y="1347449"/>
                    <a:pt x="0" y="1344176"/>
                  </a:cubicBezTo>
                  <a:lnTo>
                    <a:pt x="0" y="5926"/>
                  </a:lnTo>
                  <a:cubicBezTo>
                    <a:pt x="0" y="4354"/>
                    <a:pt x="624" y="2847"/>
                    <a:pt x="1736" y="1736"/>
                  </a:cubicBezTo>
                  <a:cubicBezTo>
                    <a:pt x="2847" y="624"/>
                    <a:pt x="4354" y="0"/>
                    <a:pt x="5926" y="0"/>
                  </a:cubicBezTo>
                  <a:close/>
                </a:path>
              </a:pathLst>
            </a:custGeom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526DCE5-1968-AFB3-C0E1-A8774AAD422A}"/>
                </a:ext>
              </a:extLst>
            </p:cNvPr>
            <p:cNvSpPr txBox="1"/>
            <p:nvPr/>
          </p:nvSpPr>
          <p:spPr>
            <a:xfrm>
              <a:off x="0" y="-47625"/>
              <a:ext cx="2064503" cy="1397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1625F515-395E-9532-557F-6CCFE90F0DCF}"/>
              </a:ext>
            </a:extLst>
          </p:cNvPr>
          <p:cNvSpPr/>
          <p:nvPr/>
        </p:nvSpPr>
        <p:spPr>
          <a:xfrm>
            <a:off x="1562099" y="6321445"/>
            <a:ext cx="7055215" cy="0"/>
          </a:xfrm>
          <a:prstGeom prst="line">
            <a:avLst/>
          </a:prstGeom>
          <a:ln w="28575" cap="rnd">
            <a:solidFill>
              <a:srgbClr val="24485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251F4E7-51DE-3C85-659C-354B20DBE89A}"/>
              </a:ext>
            </a:extLst>
          </p:cNvPr>
          <p:cNvSpPr/>
          <p:nvPr/>
        </p:nvSpPr>
        <p:spPr>
          <a:xfrm>
            <a:off x="9652612" y="6321445"/>
            <a:ext cx="7055215" cy="0"/>
          </a:xfrm>
          <a:prstGeom prst="line">
            <a:avLst/>
          </a:prstGeom>
          <a:ln w="28575" cap="rnd">
            <a:solidFill>
              <a:srgbClr val="24485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866A0A2-3B77-8D25-D5B6-2BBBF56F23A3}"/>
              </a:ext>
            </a:extLst>
          </p:cNvPr>
          <p:cNvSpPr/>
          <p:nvPr/>
        </p:nvSpPr>
        <p:spPr>
          <a:xfrm>
            <a:off x="15623331" y="3686790"/>
            <a:ext cx="669005" cy="530338"/>
          </a:xfrm>
          <a:custGeom>
            <a:avLst/>
            <a:gdLst/>
            <a:ahLst/>
            <a:cxnLst/>
            <a:rect l="l" t="t" r="r" b="b"/>
            <a:pathLst>
              <a:path w="669005" h="530338">
                <a:moveTo>
                  <a:pt x="0" y="0"/>
                </a:moveTo>
                <a:lnTo>
                  <a:pt x="669004" y="0"/>
                </a:lnTo>
                <a:lnTo>
                  <a:pt x="669004" y="530338"/>
                </a:lnTo>
                <a:lnTo>
                  <a:pt x="0" y="53033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C680F9B-2230-27C8-92AA-D3178F5839BF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0A9EF5E-8C7B-4304-742F-8AAD4C939DEC}"/>
              </a:ext>
            </a:extLst>
          </p:cNvPr>
          <p:cNvSpPr txBox="1"/>
          <p:nvPr/>
        </p:nvSpPr>
        <p:spPr>
          <a:xfrm>
            <a:off x="530369" y="1498455"/>
            <a:ext cx="17215971" cy="1143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11"/>
              </a:lnSpc>
            </a:pP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프로젝트 성과 및 한계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A2A339F-D94E-CF2C-75AD-2DABD4CA4130}"/>
              </a:ext>
            </a:extLst>
          </p:cNvPr>
          <p:cNvSpPr txBox="1"/>
          <p:nvPr/>
        </p:nvSpPr>
        <p:spPr>
          <a:xfrm>
            <a:off x="1166039" y="4975297"/>
            <a:ext cx="7838659" cy="6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9"/>
              </a:lnSpc>
            </a:pPr>
            <a:r>
              <a:rPr lang="ko-KR" altLang="en-US" sz="4042" b="1" spc="-8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프로젝트 의의</a:t>
            </a:r>
            <a:endParaRPr lang="en-US" sz="4042" b="1" spc="-8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DE54D07-4C14-793D-3FCB-177E5DDD5DC0}"/>
              </a:ext>
            </a:extLst>
          </p:cNvPr>
          <p:cNvSpPr txBox="1"/>
          <p:nvPr/>
        </p:nvSpPr>
        <p:spPr>
          <a:xfrm>
            <a:off x="9260890" y="4975297"/>
            <a:ext cx="7838659" cy="68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9"/>
              </a:lnSpc>
            </a:pPr>
            <a:r>
              <a:rPr lang="ko-KR" altLang="en-US" sz="4042" b="1" spc="-8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구조적 한계점</a:t>
            </a:r>
            <a:endParaRPr lang="en-US" sz="4042" b="1" spc="-8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4FC2046E-4FB1-0F42-4588-DC4465B8294C}"/>
              </a:ext>
            </a:extLst>
          </p:cNvPr>
          <p:cNvSpPr txBox="1"/>
          <p:nvPr/>
        </p:nvSpPr>
        <p:spPr>
          <a:xfrm>
            <a:off x="1638850" y="6755360"/>
            <a:ext cx="7223285" cy="2033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① 단일 데이터 처리 방식 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최적화된 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 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인터페이스 적용</a:t>
            </a:r>
            <a:endParaRPr lang="en-US" altLang="ko-KR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>
              <a:lnSpc>
                <a:spcPts val="3220"/>
              </a:lnSpc>
            </a:pPr>
            <a:endParaRPr lang="en-US" altLang="ko-KR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>
              <a:lnSpc>
                <a:spcPts val="3220"/>
              </a:lnSpc>
            </a:pP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② 실제 하드웨어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(FPGA) 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상에서 동작하는 시스템 구현</a:t>
            </a:r>
            <a:endParaRPr lang="en-US" altLang="ko-KR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endParaRPr lang="en-US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B0DBDDB4-65B7-E105-F432-9A556FF03953}"/>
              </a:ext>
            </a:extLst>
          </p:cNvPr>
          <p:cNvSpPr txBox="1"/>
          <p:nvPr/>
        </p:nvSpPr>
        <p:spPr>
          <a:xfrm>
            <a:off x="9601200" y="6405789"/>
            <a:ext cx="7358181" cy="1622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endParaRPr lang="en-US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r>
              <a:rPr 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① CPU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의 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‘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단일 데이터 처리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’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라는 구조적 특성</a:t>
            </a:r>
            <a:endParaRPr lang="en-US" altLang="ko-KR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endParaRPr lang="en-US" altLang="ko-KR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just">
              <a:lnSpc>
                <a:spcPts val="3220"/>
              </a:lnSpc>
            </a:pP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② </a:t>
            </a:r>
            <a:r>
              <a:rPr lang="en-US" altLang="ko-KR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1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개의 </a:t>
            </a:r>
            <a:r>
              <a:rPr lang="en-US" altLang="ko-KR" sz="2400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4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로 이루어진 싱글 마스터 시스템</a:t>
            </a:r>
            <a:endParaRPr lang="en-US" sz="24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  <p:extLst>
      <p:ext uri="{BB962C8B-B14F-4D97-AF65-F5344CB8AC3E}">
        <p14:creationId xmlns:p14="http://schemas.microsoft.com/office/powerpoint/2010/main" val="1814394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2CDE-7C88-7A81-8FB2-1D651D3A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2631AF-8DCD-512F-C16C-B1C4392175C1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342593-D3C4-8C4E-0DDF-C16C808A87F5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6887EB-3B61-1CE8-8F1E-6047228E0DFE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CC02CC8-CD6D-BDFB-976F-0A0A40991CBD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BFCF8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04EA08B-AF8C-E4D3-8DA2-04B26EC0C005}"/>
              </a:ext>
            </a:extLst>
          </p:cNvPr>
          <p:cNvSpPr txBox="1"/>
          <p:nvPr/>
        </p:nvSpPr>
        <p:spPr>
          <a:xfrm>
            <a:off x="1134346" y="1036223"/>
            <a:ext cx="5478021" cy="1114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1"/>
              </a:lnSpc>
            </a:pPr>
            <a:r>
              <a:rPr lang="ko-KR" altLang="en-US" sz="6579" spc="-131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향후 발전 방향</a:t>
            </a:r>
            <a:endParaRPr lang="en-US" sz="6579" spc="-131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AA64254-F1C6-7B00-C6FB-4A8A1F131598}"/>
              </a:ext>
            </a:extLst>
          </p:cNvPr>
          <p:cNvGrpSpPr/>
          <p:nvPr/>
        </p:nvGrpSpPr>
        <p:grpSpPr>
          <a:xfrm>
            <a:off x="1028700" y="2671414"/>
            <a:ext cx="16124953" cy="2454587"/>
            <a:chOff x="0" y="0"/>
            <a:chExt cx="1673847" cy="23414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D519D9B-F8F1-9E17-A465-0869AE5EC712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EFEFED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4EBDDA1-E325-CF73-71FF-FFD48BB0A572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D518840-17D8-5A26-E6C5-CBDC9553D73B}"/>
              </a:ext>
            </a:extLst>
          </p:cNvPr>
          <p:cNvGrpSpPr/>
          <p:nvPr/>
        </p:nvGrpSpPr>
        <p:grpSpPr>
          <a:xfrm>
            <a:off x="1019735" y="5909918"/>
            <a:ext cx="16133918" cy="2463361"/>
            <a:chOff x="0" y="0"/>
            <a:chExt cx="1673847" cy="23414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A611E38-0223-1846-DDEB-1B96AE859171}"/>
                </a:ext>
              </a:extLst>
            </p:cNvPr>
            <p:cNvSpPr/>
            <p:nvPr/>
          </p:nvSpPr>
          <p:spPr>
            <a:xfrm>
              <a:off x="0" y="0"/>
              <a:ext cx="1673847" cy="234145"/>
            </a:xfrm>
            <a:custGeom>
              <a:avLst/>
              <a:gdLst/>
              <a:ahLst/>
              <a:cxnLst/>
              <a:rect l="l" t="t" r="r" b="b"/>
              <a:pathLst>
                <a:path w="1673847" h="234145">
                  <a:moveTo>
                    <a:pt x="11137" y="0"/>
                  </a:moveTo>
                  <a:lnTo>
                    <a:pt x="1662710" y="0"/>
                  </a:lnTo>
                  <a:cubicBezTo>
                    <a:pt x="1668861" y="0"/>
                    <a:pt x="1673847" y="4986"/>
                    <a:pt x="1673847" y="11137"/>
                  </a:cubicBezTo>
                  <a:lnTo>
                    <a:pt x="1673847" y="223008"/>
                  </a:lnTo>
                  <a:cubicBezTo>
                    <a:pt x="1673847" y="225962"/>
                    <a:pt x="1672674" y="228795"/>
                    <a:pt x="1670585" y="230883"/>
                  </a:cubicBezTo>
                  <a:cubicBezTo>
                    <a:pt x="1668496" y="232972"/>
                    <a:pt x="1665664" y="234145"/>
                    <a:pt x="1662710" y="234145"/>
                  </a:cubicBezTo>
                  <a:lnTo>
                    <a:pt x="11137" y="234145"/>
                  </a:lnTo>
                  <a:cubicBezTo>
                    <a:pt x="4986" y="234145"/>
                    <a:pt x="0" y="229159"/>
                    <a:pt x="0" y="223008"/>
                  </a:cubicBezTo>
                  <a:lnTo>
                    <a:pt x="0" y="11137"/>
                  </a:lnTo>
                  <a:cubicBezTo>
                    <a:pt x="0" y="4986"/>
                    <a:pt x="4986" y="0"/>
                    <a:pt x="111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4485E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EAFC46B-241A-B371-DB25-E39EE9E1BAE3}"/>
                </a:ext>
              </a:extLst>
            </p:cNvPr>
            <p:cNvSpPr txBox="1"/>
            <p:nvPr/>
          </p:nvSpPr>
          <p:spPr>
            <a:xfrm>
              <a:off x="0" y="-47625"/>
              <a:ext cx="1673847" cy="281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4D9D4006-6A8B-97A5-9C98-A0425B337F4A}"/>
              </a:ext>
            </a:extLst>
          </p:cNvPr>
          <p:cNvSpPr/>
          <p:nvPr/>
        </p:nvSpPr>
        <p:spPr>
          <a:xfrm>
            <a:off x="2718754" y="6941942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1"/>
                </a:lnTo>
                <a:lnTo>
                  <a:pt x="0" y="399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5C683455-58FC-BB96-21EE-C7C2894C3B16}"/>
              </a:ext>
            </a:extLst>
          </p:cNvPr>
          <p:cNvSpPr/>
          <p:nvPr/>
        </p:nvSpPr>
        <p:spPr>
          <a:xfrm>
            <a:off x="2701682" y="3774377"/>
            <a:ext cx="399311" cy="399311"/>
          </a:xfrm>
          <a:custGeom>
            <a:avLst/>
            <a:gdLst/>
            <a:ahLst/>
            <a:cxnLst/>
            <a:rect l="l" t="t" r="r" b="b"/>
            <a:pathLst>
              <a:path w="399311" h="399311">
                <a:moveTo>
                  <a:pt x="0" y="0"/>
                </a:moveTo>
                <a:lnTo>
                  <a:pt x="399310" y="0"/>
                </a:lnTo>
                <a:lnTo>
                  <a:pt x="399310" y="399311"/>
                </a:lnTo>
                <a:lnTo>
                  <a:pt x="0" y="399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7E27C9D-9D3B-1BF2-546D-0F2FDFF2AA90}"/>
              </a:ext>
            </a:extLst>
          </p:cNvPr>
          <p:cNvSpPr txBox="1"/>
          <p:nvPr/>
        </p:nvSpPr>
        <p:spPr>
          <a:xfrm>
            <a:off x="3505200" y="3538638"/>
            <a:ext cx="2394474" cy="89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ko-KR" altLang="en-US" sz="2602" b="1" spc="-52" dirty="0" err="1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버스트</a:t>
            </a:r>
            <a:r>
              <a:rPr lang="en-US" altLang="ko-KR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(Burst)</a:t>
            </a:r>
          </a:p>
          <a:p>
            <a:pPr algn="l">
              <a:lnSpc>
                <a:spcPts val="3643"/>
              </a:lnSpc>
            </a:pP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전송 기능 구현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ACF14F7-9ED4-B760-4C5A-FC7AEA5CA667}"/>
              </a:ext>
            </a:extLst>
          </p:cNvPr>
          <p:cNvSpPr txBox="1"/>
          <p:nvPr/>
        </p:nvSpPr>
        <p:spPr>
          <a:xfrm>
            <a:off x="7819108" y="3588780"/>
            <a:ext cx="8030492" cy="798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단일 데이터만 처리하는 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에 </a:t>
            </a:r>
            <a:r>
              <a:rPr lang="ko-KR" altLang="en-US" sz="2300" spc="-46" dirty="0" err="1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버스트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 신호 기능을 추가하여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</a:t>
            </a:r>
          </a:p>
          <a:p>
            <a:pPr algn="l">
              <a:lnSpc>
                <a:spcPts val="3220"/>
              </a:lnSpc>
            </a:pP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주소 요청 한번으로 연속된 데이터를 처리하는 </a:t>
            </a:r>
            <a:r>
              <a:rPr lang="en-US" altLang="ko-KR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CPU </a:t>
            </a:r>
            <a:r>
              <a:rPr lang="ko-KR" altLang="en-US" sz="2300" spc="-46" dirty="0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설계</a:t>
            </a:r>
            <a:endParaRPr lang="en-US" sz="2300" spc="-46" dirty="0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492B888-1653-F4CA-D471-EE252B38A07A}"/>
              </a:ext>
            </a:extLst>
          </p:cNvPr>
          <p:cNvSpPr txBox="1"/>
          <p:nvPr/>
        </p:nvSpPr>
        <p:spPr>
          <a:xfrm>
            <a:off x="7819107" y="6736180"/>
            <a:ext cx="8030489" cy="798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다중 마스터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(CPU, DMA)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 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AXI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버스를 공유하여</a:t>
            </a:r>
            <a:r>
              <a:rPr lang="en-US" altLang="ko-KR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sz="2300" spc="-46">
                <a:solidFill>
                  <a:srgbClr val="24485E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실시간 메모리 접근과 고속 버스트 전송을 동시에 수행하는 시스템 구축</a:t>
            </a:r>
            <a:endParaRPr lang="en-US" sz="2300" spc="-46">
              <a:solidFill>
                <a:srgbClr val="24485E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8CDB34D-DFA9-05C8-937B-D4CE850317B7}"/>
              </a:ext>
            </a:extLst>
          </p:cNvPr>
          <p:cNvSpPr txBox="1"/>
          <p:nvPr/>
        </p:nvSpPr>
        <p:spPr>
          <a:xfrm>
            <a:off x="3330629" y="6891075"/>
            <a:ext cx="2394474" cy="43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ko-KR" altLang="en-US" sz="2602" b="1" spc="-52" dirty="0">
                <a:solidFill>
                  <a:srgbClr val="24485E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멀티 마스터 구축</a:t>
            </a:r>
            <a:endParaRPr lang="en-US" sz="2602" b="1" spc="-52" dirty="0">
              <a:solidFill>
                <a:srgbClr val="24485E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12C56E3A-8A01-004A-1B86-2057C210F2F3}"/>
              </a:ext>
            </a:extLst>
          </p:cNvPr>
          <p:cNvSpPr/>
          <p:nvPr/>
        </p:nvSpPr>
        <p:spPr>
          <a:xfrm flipV="1">
            <a:off x="6612367" y="6804585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AutoShape 45">
            <a:extLst>
              <a:ext uri="{FF2B5EF4-FFF2-40B4-BE49-F238E27FC236}">
                <a16:creationId xmlns:a16="http://schemas.microsoft.com/office/drawing/2014/main" id="{BC51BE8F-9C1E-08AC-073E-5782647D2E3A}"/>
              </a:ext>
            </a:extLst>
          </p:cNvPr>
          <p:cNvSpPr/>
          <p:nvPr/>
        </p:nvSpPr>
        <p:spPr>
          <a:xfrm flipV="1">
            <a:off x="6658464" y="3621469"/>
            <a:ext cx="0" cy="674023"/>
          </a:xfrm>
          <a:prstGeom prst="line">
            <a:avLst/>
          </a:prstGeom>
          <a:ln w="19050" cap="rnd">
            <a:solidFill>
              <a:srgbClr val="24485E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534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2D07-72DC-2420-21B6-0F6CBA84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8F4164-4B68-47A1-F625-0140E722FEF7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53063F-23D4-F1B0-1039-299B881C4EFE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6F0B2A-394D-E3BA-13E2-945162DE4D0B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42B3CE1-EA5B-0008-A7B9-8E3212449843}"/>
              </a:ext>
            </a:extLst>
          </p:cNvPr>
          <p:cNvSpPr txBox="1"/>
          <p:nvPr/>
        </p:nvSpPr>
        <p:spPr>
          <a:xfrm>
            <a:off x="6400800" y="4076700"/>
            <a:ext cx="5486400" cy="146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95"/>
              </a:lnSpc>
            </a:pPr>
            <a:r>
              <a:rPr lang="ko-KR" altLang="en-US" sz="9150" spc="-183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감사합니다</a:t>
            </a:r>
            <a:endParaRPr lang="en-US" sz="9150" spc="-183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C623253-F204-CBB3-A138-E401CE092FAE}"/>
              </a:ext>
            </a:extLst>
          </p:cNvPr>
          <p:cNvSpPr txBox="1"/>
          <p:nvPr/>
        </p:nvSpPr>
        <p:spPr>
          <a:xfrm>
            <a:off x="1028700" y="929146"/>
            <a:ext cx="1671112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-43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2035</a:t>
            </a:r>
          </a:p>
        </p:txBody>
      </p:sp>
    </p:spTree>
    <p:extLst>
      <p:ext uri="{BB962C8B-B14F-4D97-AF65-F5344CB8AC3E}">
        <p14:creationId xmlns:p14="http://schemas.microsoft.com/office/powerpoint/2010/main" val="2462707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A86BF-565E-C43F-7407-4927148E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B98C24-6E36-94EE-2CBA-AD898DE3CBB8}"/>
              </a:ext>
            </a:extLst>
          </p:cNvPr>
          <p:cNvGrpSpPr/>
          <p:nvPr/>
        </p:nvGrpSpPr>
        <p:grpSpPr>
          <a:xfrm>
            <a:off x="520769" y="493985"/>
            <a:ext cx="17252828" cy="9291926"/>
            <a:chOff x="0" y="0"/>
            <a:chExt cx="4543955" cy="244725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E4F871-6E34-0CB5-A8AD-DA0649F9FD17}"/>
                </a:ext>
              </a:extLst>
            </p:cNvPr>
            <p:cNvSpPr/>
            <p:nvPr/>
          </p:nvSpPr>
          <p:spPr>
            <a:xfrm>
              <a:off x="0" y="0"/>
              <a:ext cx="4543955" cy="2447256"/>
            </a:xfrm>
            <a:custGeom>
              <a:avLst/>
              <a:gdLst/>
              <a:ahLst/>
              <a:cxnLst/>
              <a:rect l="l" t="t" r="r" b="b"/>
              <a:pathLst>
                <a:path w="4543955" h="2447256">
                  <a:moveTo>
                    <a:pt x="12116" y="0"/>
                  </a:moveTo>
                  <a:lnTo>
                    <a:pt x="4531839" y="0"/>
                  </a:lnTo>
                  <a:cubicBezTo>
                    <a:pt x="4535052" y="0"/>
                    <a:pt x="4538134" y="1276"/>
                    <a:pt x="4540406" y="3549"/>
                  </a:cubicBezTo>
                  <a:cubicBezTo>
                    <a:pt x="4542679" y="5821"/>
                    <a:pt x="4543955" y="8902"/>
                    <a:pt x="4543955" y="12116"/>
                  </a:cubicBezTo>
                  <a:lnTo>
                    <a:pt x="4543955" y="2435141"/>
                  </a:lnTo>
                  <a:cubicBezTo>
                    <a:pt x="4543955" y="2438354"/>
                    <a:pt x="4542679" y="2441435"/>
                    <a:pt x="4540406" y="2443708"/>
                  </a:cubicBezTo>
                  <a:cubicBezTo>
                    <a:pt x="4538134" y="2445980"/>
                    <a:pt x="4535052" y="2447256"/>
                    <a:pt x="4531839" y="2447256"/>
                  </a:cubicBezTo>
                  <a:lnTo>
                    <a:pt x="12116" y="2447256"/>
                  </a:lnTo>
                  <a:cubicBezTo>
                    <a:pt x="5424" y="2447256"/>
                    <a:pt x="0" y="2441832"/>
                    <a:pt x="0" y="2435141"/>
                  </a:cubicBezTo>
                  <a:lnTo>
                    <a:pt x="0" y="12116"/>
                  </a:lnTo>
                  <a:cubicBezTo>
                    <a:pt x="0" y="8902"/>
                    <a:pt x="1276" y="5821"/>
                    <a:pt x="3549" y="3549"/>
                  </a:cubicBezTo>
                  <a:cubicBezTo>
                    <a:pt x="5821" y="1276"/>
                    <a:pt x="8902" y="0"/>
                    <a:pt x="12116" y="0"/>
                  </a:cubicBezTo>
                  <a:close/>
                </a:path>
              </a:pathLst>
            </a:custGeom>
            <a:ln w="38100" cap="rnd">
              <a:solidFill>
                <a:srgbClr val="24485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BDAD374-8F94-1DC4-AA2D-E396DB8F044B}"/>
                </a:ext>
              </a:extLst>
            </p:cNvPr>
            <p:cNvSpPr txBox="1"/>
            <p:nvPr/>
          </p:nvSpPr>
          <p:spPr>
            <a:xfrm>
              <a:off x="0" y="-38100"/>
              <a:ext cx="4543955" cy="248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57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F7960EE-58A0-336A-EE48-204F9B5EA756}"/>
              </a:ext>
            </a:extLst>
          </p:cNvPr>
          <p:cNvSpPr txBox="1"/>
          <p:nvPr/>
        </p:nvSpPr>
        <p:spPr>
          <a:xfrm>
            <a:off x="7441427" y="4335333"/>
            <a:ext cx="3405146" cy="146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895"/>
              </a:lnSpc>
            </a:pPr>
            <a:r>
              <a:rPr lang="en-US" sz="9150" spc="-183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Q</a:t>
            </a:r>
            <a:r>
              <a:rPr lang="ko-KR" altLang="en-US" sz="9150" spc="-183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</a:t>
            </a:r>
            <a:r>
              <a:rPr lang="en-US" altLang="ko-KR" sz="9150" spc="-183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&amp;</a:t>
            </a:r>
            <a:r>
              <a:rPr lang="ko-KR" altLang="en-US" sz="9150" spc="-183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 </a:t>
            </a:r>
            <a:r>
              <a:rPr lang="en-US" altLang="ko-KR" sz="9150" spc="-183">
                <a:solidFill>
                  <a:srgbClr val="24485E"/>
                </a:solidFill>
                <a:latin typeface="TDTD굴림"/>
                <a:ea typeface="TDTD굴림"/>
                <a:cs typeface="TDTD굴림"/>
                <a:sym typeface="TDTD굴림"/>
              </a:rPr>
              <a:t>A</a:t>
            </a:r>
            <a:endParaRPr lang="en-US" sz="9150" spc="-183">
              <a:solidFill>
                <a:srgbClr val="24485E"/>
              </a:solidFill>
              <a:latin typeface="TDTD굴림"/>
              <a:ea typeface="TDTD굴림"/>
              <a:cs typeface="TDTD굴림"/>
              <a:sym typeface="TDTD굴림"/>
            </a:endParaRPr>
          </a:p>
        </p:txBody>
      </p:sp>
    </p:spTree>
    <p:extLst>
      <p:ext uri="{BB962C8B-B14F-4D97-AF65-F5344CB8AC3E}">
        <p14:creationId xmlns:p14="http://schemas.microsoft.com/office/powerpoint/2010/main" val="79151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2570</TotalTime>
  <Words>1311</Words>
  <Application>Microsoft Office PowerPoint</Application>
  <PresentationFormat>사용자 지정</PresentationFormat>
  <Paragraphs>253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맑은 고딕</vt:lpstr>
      <vt:lpstr>TDTD순고딕</vt:lpstr>
      <vt:lpstr>Arial</vt:lpstr>
      <vt:lpstr>Arial Unicode MS</vt:lpstr>
      <vt:lpstr>TDTD굴림</vt:lpstr>
      <vt:lpstr>Calibri</vt:lpstr>
      <vt:lpstr>TDTD순고딕 Bold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모던한 크림색 지속 가능한 도시 개발 팀 과제 발표 프리젠테이션</dc:title>
  <dc:creator>admin</dc:creator>
  <cp:lastModifiedBy>기연 김</cp:lastModifiedBy>
  <cp:revision>10</cp:revision>
  <dcterms:created xsi:type="dcterms:W3CDTF">2006-08-16T00:00:00Z</dcterms:created>
  <dcterms:modified xsi:type="dcterms:W3CDTF">2026-09-12T13:45:29Z</dcterms:modified>
  <dc:identifier>DAHLOmljAz0</dc:identifier>
</cp:coreProperties>
</file>